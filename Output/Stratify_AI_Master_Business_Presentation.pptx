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362895" cy="3200400"/>
          </a:xfrm>
          <a:prstGeom prst="rect">
            <a:avLst/>
          </a:prstGeom>
          <a:noFill/>
        </p:spPr>
        <p:txBody>
          <a:bodyPr wrap="none">
            <a:spAutoFit/>
          </a:bodyPr>
          <a:lstStyle/>
          <a:p>
            <a:pPr>
              <a:defRPr sz="4400" b="1">
                <a:solidFill>
                  <a:srgbClr val="319795"/>
                </a:solidFill>
              </a:defRPr>
            </a:pPr>
            <a:r>
              <a:t>🎯 STRATIFY AI</a:t>
            </a:r>
          </a:p>
          <a:p>
            <a:pPr>
              <a:defRPr sz="2800">
                <a:solidFill>
                  <a:srgbClr val="FFFFFF"/>
                </a:solidFill>
              </a:defRPr>
            </a:pPr>
            <a:r>
              <a:t>Real-Time Executive Decision Intelligence Platform</a:t>
            </a:r>
          </a:p>
          <a:p>
            <a:pPr>
              <a:defRPr sz="1800">
                <a:solidFill>
                  <a:srgbClr val="CBD5E0"/>
                </a:solidFill>
              </a:defRPr>
            </a:pPr>
            <a:r>
              <a:t>Live Demo Presentation Deck (https://stratify-ai-demo.streamlit.app/)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defRPr sz="1100" b="1">
                <a:solidFill>
                  <a:srgbClr val="319795"/>
                </a:solidFill>
              </a:defRPr>
            </a:pPr>
            <a:r>
              <a:t>STRATIFY AI — LIVE DEMO BUSINESS DECK</a:t>
            </a:r>
          </a:p>
          <a:p>
            <a:pPr>
              <a:defRPr sz="2200" b="1">
                <a:solidFill>
                  <a:srgbClr val="FFFFFF"/>
                </a:solidFill>
              </a:defRPr>
            </a:pPr>
            <a:r>
              <a:t>6-Person Business Presentation Agenda &amp; Flow</a:t>
            </a:r>
          </a:p>
        </p:txBody>
      </p:sp>
      <p:sp>
        <p:nvSpPr>
          <p:cNvPr id="3" name="Rounded Rectangle 2"/>
          <p:cNvSpPr/>
          <p:nvPr/>
        </p:nvSpPr>
        <p:spPr>
          <a:xfrm>
            <a:off x="548640" y="1371600"/>
            <a:ext cx="3566160" cy="2286000"/>
          </a:xfrm>
          <a:prstGeom prst="roundRect">
            <a:avLst/>
          </a:prstGeom>
          <a:solidFill>
            <a:srgbClr val="F7FAFC"/>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182880" tIns="137160" rIns="182880"/>
          <a:lstStyle/>
          <a:p>
            <a:pPr algn="ctr">
              <a:defRPr sz="1400" b="1">
                <a:solidFill>
                  <a:srgbClr val="1A365D"/>
                </a:solidFill>
              </a:defRPr>
            </a:pPr>
            <a:r>
              <a:t>Person 1: Business Problem &amp; Platform Vision</a:t>
            </a:r>
          </a:p>
          <a:p>
            <a:pPr>
              <a:defRPr sz="1000" i="1">
                <a:solidFill>
                  <a:srgbClr val="2B6CB0"/>
                </a:solidFill>
              </a:defRPr>
            </a:pPr>
            <a:r>
              <a:t>Theme: Overcoming Data Silos &amp; Transforming Executive Decision-Making</a:t>
            </a:r>
          </a:p>
          <a:p>
            <a:pPr>
              <a:defRPr sz="950">
                <a:solidFill>
                  <a:srgbClr val="2D3748"/>
                </a:solidFill>
              </a:defRPr>
            </a:pPr>
            <a:r>
              <a:t>Focuses on why traditional reporting fails modern businesses, introduces Stratify AI as a real-time decision intelligence platform, and maps out the end-to-end business flow across all 6 stages.</a:t>
            </a:r>
          </a:p>
        </p:txBody>
      </p:sp>
      <p:sp>
        <p:nvSpPr>
          <p:cNvPr id="4" name="Rounded Rectangle 3"/>
          <p:cNvSpPr/>
          <p:nvPr/>
        </p:nvSpPr>
        <p:spPr>
          <a:xfrm>
            <a:off x="4297679" y="1371600"/>
            <a:ext cx="3566160" cy="2286000"/>
          </a:xfrm>
          <a:prstGeom prst="roundRect">
            <a:avLst/>
          </a:prstGeom>
          <a:solidFill>
            <a:srgbClr val="F7FAFC"/>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182880" tIns="137160" rIns="182880"/>
          <a:lstStyle/>
          <a:p>
            <a:pPr algn="ctr">
              <a:defRPr sz="1400" b="1">
                <a:solidFill>
                  <a:srgbClr val="1A365D"/>
                </a:solidFill>
              </a:defRPr>
            </a:pPr>
            <a:r>
              <a:t>Person 2: Live Store Capture &amp; Smart Data Quality Control</a:t>
            </a:r>
          </a:p>
          <a:p>
            <a:pPr>
              <a:defRPr sz="1000" i="1">
                <a:solidFill>
                  <a:srgbClr val="2B6CB0"/>
                </a:solidFill>
              </a:defRPr>
            </a:pPr>
            <a:r>
              <a:t>Theme: Garbage In, Garbage Out Prevention &amp; Enterprise Data Reliability</a:t>
            </a:r>
          </a:p>
          <a:p>
            <a:pPr>
              <a:defRPr sz="950">
                <a:solidFill>
                  <a:srgbClr val="2D3748"/>
                </a:solidFill>
              </a:defRPr>
            </a:pPr>
            <a:r>
              <a:t>Explains how live store transactions are continuously recorded, passed through an automated digital quality control filter, and stored securely so business reports are always 100% accurate.</a:t>
            </a:r>
          </a:p>
        </p:txBody>
      </p:sp>
      <p:sp>
        <p:nvSpPr>
          <p:cNvPr id="5" name="Rounded Rectangle 4"/>
          <p:cNvSpPr/>
          <p:nvPr/>
        </p:nvSpPr>
        <p:spPr>
          <a:xfrm>
            <a:off x="8046719" y="1371600"/>
            <a:ext cx="3566160" cy="2286000"/>
          </a:xfrm>
          <a:prstGeom prst="roundRect">
            <a:avLst/>
          </a:prstGeom>
          <a:solidFill>
            <a:srgbClr val="F7FAFC"/>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182880" tIns="137160" rIns="182880"/>
          <a:lstStyle/>
          <a:p>
            <a:pPr algn="ctr">
              <a:defRPr sz="1400" b="1">
                <a:solidFill>
                  <a:srgbClr val="1A365D"/>
                </a:solidFill>
              </a:defRPr>
            </a:pPr>
            <a:r>
              <a:t>Person 3: Customer Intelligence &amp; Sales Growth Forecasting</a:t>
            </a:r>
          </a:p>
          <a:p>
            <a:pPr>
              <a:defRPr sz="1000" i="1">
                <a:solidFill>
                  <a:srgbClr val="2B6CB0"/>
                </a:solidFill>
              </a:defRPr>
            </a:pPr>
            <a:r>
              <a:t>Theme: Turning Raw Sales Data into Customer Insights &amp; Revenue Predictions</a:t>
            </a:r>
          </a:p>
          <a:p>
            <a:pPr>
              <a:defRPr sz="950">
                <a:solidFill>
                  <a:srgbClr val="2D3748"/>
                </a:solidFill>
              </a:defRPr>
            </a:pPr>
            <a:r>
              <a:t>Focuses on customer RFM segmentation (Champions vs. At-Risk), predictive sales forecasting to plan inventory, and tracking product profit margins to maximize profitability.</a:t>
            </a:r>
          </a:p>
        </p:txBody>
      </p:sp>
      <p:sp>
        <p:nvSpPr>
          <p:cNvPr id="6" name="Rounded Rectangle 5"/>
          <p:cNvSpPr/>
          <p:nvPr/>
        </p:nvSpPr>
        <p:spPr>
          <a:xfrm>
            <a:off x="548640" y="3931920"/>
            <a:ext cx="3566160" cy="2286000"/>
          </a:xfrm>
          <a:prstGeom prst="roundRect">
            <a:avLst/>
          </a:prstGeom>
          <a:solidFill>
            <a:srgbClr val="F7FAFC"/>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182880" tIns="137160" rIns="182880"/>
          <a:lstStyle/>
          <a:p>
            <a:pPr algn="ctr">
              <a:defRPr sz="1400" b="1">
                <a:solidFill>
                  <a:srgbClr val="1A365D"/>
                </a:solidFill>
              </a:defRPr>
            </a:pPr>
            <a:r>
              <a:t>Person 4: Interactive Executive Control Center &amp; Live Store Monitor</a:t>
            </a:r>
          </a:p>
          <a:p>
            <a:pPr>
              <a:defRPr sz="1000" i="1">
                <a:solidFill>
                  <a:srgbClr val="2B6CB0"/>
                </a:solidFill>
              </a:defRPr>
            </a:pPr>
            <a:r>
              <a:t>Theme: The Real-Time Visual Command Hub for Executive Decision-Makers</a:t>
            </a:r>
          </a:p>
          <a:p>
            <a:pPr>
              <a:defRPr sz="950">
                <a:solidFill>
                  <a:srgbClr val="2D3748"/>
                </a:solidFill>
              </a:defRPr>
            </a:pPr>
            <a:r>
              <a:t>Demonstrates the 9-tab Streamlit executive dashboard, live store transaction feeds, visual business health scoring, and interactive Plotly chart controls designed for non-technical users.</a:t>
            </a:r>
          </a:p>
        </p:txBody>
      </p:sp>
      <p:sp>
        <p:nvSpPr>
          <p:cNvPr id="7" name="Rounded Rectangle 6"/>
          <p:cNvSpPr/>
          <p:nvPr/>
        </p:nvSpPr>
        <p:spPr>
          <a:xfrm>
            <a:off x="4297679" y="3931920"/>
            <a:ext cx="3566160" cy="2286000"/>
          </a:xfrm>
          <a:prstGeom prst="roundRect">
            <a:avLst/>
          </a:prstGeom>
          <a:solidFill>
            <a:srgbClr val="F7FAFC"/>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182880" tIns="137160" rIns="182880"/>
          <a:lstStyle/>
          <a:p>
            <a:pPr algn="ctr">
              <a:defRPr sz="1400" b="1">
                <a:solidFill>
                  <a:srgbClr val="1A365D"/>
                </a:solidFill>
              </a:defRPr>
            </a:pPr>
            <a:r>
              <a:t>Person 5: AI Strategy Advisor &amp; Plain English Business Q&amp;A</a:t>
            </a:r>
          </a:p>
          <a:p>
            <a:pPr>
              <a:defRPr sz="1000" i="1">
                <a:solidFill>
                  <a:srgbClr val="2B6CB0"/>
                </a:solidFill>
              </a:defRPr>
            </a:pPr>
            <a:r>
              <a:t>Theme: Democratizing Artificial Intelligence for C-Suite Strategic Guidance</a:t>
            </a:r>
          </a:p>
          <a:p>
            <a:pPr>
              <a:defRPr sz="950">
                <a:solidFill>
                  <a:srgbClr val="2D3748"/>
                </a:solidFill>
              </a:defRPr>
            </a:pPr>
            <a:r>
              <a:t>Focuses on the integrated DeepSeek AI advisor, natural language business Q&amp;A, automated root-cause analysis, and strategic recommendation engine for business decision-makers.</a:t>
            </a:r>
          </a:p>
        </p:txBody>
      </p:sp>
      <p:sp>
        <p:nvSpPr>
          <p:cNvPr id="8" name="Rounded Rectangle 7"/>
          <p:cNvSpPr/>
          <p:nvPr/>
        </p:nvSpPr>
        <p:spPr>
          <a:xfrm>
            <a:off x="8046719" y="3931920"/>
            <a:ext cx="3566160" cy="2286000"/>
          </a:xfrm>
          <a:prstGeom prst="roundRect">
            <a:avLst/>
          </a:prstGeom>
          <a:solidFill>
            <a:srgbClr val="F7FAFC"/>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182880" tIns="137160" rIns="182880"/>
          <a:lstStyle/>
          <a:p>
            <a:pPr algn="ctr">
              <a:defRPr sz="1400" b="1">
                <a:solidFill>
                  <a:srgbClr val="1A365D"/>
                </a:solidFill>
              </a:defRPr>
            </a:pPr>
            <a:r>
              <a:t>Person 6: Automated Executive Reporting &amp; Total Business ROI</a:t>
            </a:r>
          </a:p>
          <a:p>
            <a:pPr>
              <a:defRPr sz="1000" i="1">
                <a:solidFill>
                  <a:srgbClr val="2B6CB0"/>
                </a:solidFill>
              </a:defRPr>
            </a:pPr>
            <a:r>
              <a:t>Theme: Zero-Touch Automated Delivery, Enterprise Security &amp; Business Impact</a:t>
            </a:r>
          </a:p>
          <a:p>
            <a:pPr>
              <a:defRPr sz="950">
                <a:solidFill>
                  <a:srgbClr val="2D3748"/>
                </a:solidFill>
              </a:defRPr>
            </a:pPr>
            <a:r>
              <a:t>Covers the 8-page automated executive PDF briefing engine, Robotic Process Automation (RPA) email distribution via Gmail, data security, and total business ROI.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defRPr sz="1100" b="1">
                <a:solidFill>
                  <a:srgbClr val="319795"/>
                </a:solidFill>
              </a:defRPr>
            </a:pPr>
            <a:r>
              <a:t>PART: BUSINESS PROBLEM &amp; PLATFORM VISION</a:t>
            </a:r>
          </a:p>
          <a:p>
            <a:pPr>
              <a:defRPr sz="2200" b="1">
                <a:solidFill>
                  <a:srgbClr val="FFFFFF"/>
                </a:solidFill>
              </a:defRPr>
            </a:pPr>
            <a:r>
              <a:t>Person 1 — Welcome &amp; Executive Summary</a:t>
            </a:r>
          </a:p>
        </p:txBody>
      </p:sp>
      <p:sp>
        <p:nvSpPr>
          <p:cNvPr id="3" name="Rounded Rectangle 2"/>
          <p:cNvSpPr/>
          <p:nvPr/>
        </p:nvSpPr>
        <p:spPr>
          <a:xfrm>
            <a:off x="457200" y="1188720"/>
            <a:ext cx="5852160" cy="5303520"/>
          </a:xfrm>
          <a:prstGeom prst="roundRect">
            <a:avLst/>
          </a:prstGeom>
          <a:solidFill>
            <a:srgbClr val="F7FAFC"/>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xec_control_mid_1786949688444.png"/>
          <p:cNvPicPr>
            <a:picLocks noChangeAspect="1"/>
          </p:cNvPicPr>
          <p:nvPr/>
        </p:nvPicPr>
        <p:blipFill>
          <a:blip r:embed="rId2"/>
          <a:stretch>
            <a:fillRect/>
          </a:stretch>
        </p:blipFill>
        <p:spPr>
          <a:xfrm>
            <a:off x="548640" y="1280160"/>
            <a:ext cx="5669280" cy="4572000"/>
          </a:xfrm>
          <a:prstGeom prst="rect">
            <a:avLst/>
          </a:prstGeom>
        </p:spPr>
      </p:pic>
      <p:sp>
        <p:nvSpPr>
          <p:cNvPr id="5" name="TextBox 4"/>
          <p:cNvSpPr txBox="1"/>
          <p:nvPr/>
        </p:nvSpPr>
        <p:spPr>
          <a:xfrm>
            <a:off x="548640" y="5897880"/>
            <a:ext cx="5669280" cy="548640"/>
          </a:xfrm>
          <a:prstGeom prst="rect">
            <a:avLst/>
          </a:prstGeom>
          <a:noFill/>
        </p:spPr>
        <p:txBody>
          <a:bodyPr wrap="none">
            <a:spAutoFit/>
          </a:bodyPr>
          <a:lstStyle/>
          <a:p>
            <a:pPr>
              <a:defRPr sz="1000" b="1">
                <a:solidFill>
                  <a:srgbClr val="1A365D"/>
                </a:solidFill>
              </a:defRPr>
            </a:pPr>
            <a:r>
              <a:t>📸 Live Streamlit Demo Screen: Live Demo Header &amp; Corporate KPI Summary Banner</a:t>
            </a:r>
          </a:p>
        </p:txBody>
      </p:sp>
      <p:sp>
        <p:nvSpPr>
          <p:cNvPr id="6" name="Rounded Rectangle 5"/>
          <p:cNvSpPr/>
          <p:nvPr/>
        </p:nvSpPr>
        <p:spPr>
          <a:xfrm>
            <a:off x="6492240" y="1188720"/>
            <a:ext cx="521208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74320" tIns="182880" rIns="274320"/>
          <a:lstStyle/>
          <a:p>
            <a:pPr algn="ctr">
              <a:defRPr sz="1200" b="1">
                <a:solidFill>
                  <a:srgbClr val="1A365D"/>
                </a:solidFill>
              </a:defRPr>
            </a:pPr>
            <a:r>
              <a:t>📌 KEY PRESENTATION POINTS</a:t>
            </a:r>
          </a:p>
          <a:p>
            <a:pPr>
              <a:defRPr sz="1050">
                <a:solidFill>
                  <a:srgbClr val="2D3748"/>
                </a:solidFill>
              </a:defRPr>
            </a:pPr>
            <a:r>
              <a:t>•  Introduction to Stratify AI Live Demo (https://stratify-ai-demo.streamlit.app/)</a:t>
            </a:r>
          </a:p>
          <a:p>
            <a:pPr>
              <a:defRPr sz="1050">
                <a:solidFill>
                  <a:srgbClr val="2D3748"/>
                </a:solidFill>
              </a:defRPr>
            </a:pPr>
            <a:r>
              <a:t>•  Real-time KPI metrics: Total Revenue (₹1.32M), Profit Margin (26.63%), Active Customers (486)</a:t>
            </a:r>
          </a:p>
          <a:p>
            <a:pPr>
              <a:defRPr sz="1050">
                <a:solidFill>
                  <a:srgbClr val="2D3748"/>
                </a:solidFill>
              </a:defRPr>
            </a:pPr>
            <a:r>
              <a:t>•  Goal: Real-time decision intelligence for modern business leadership</a:t>
            </a:r>
          </a:p>
          <a:p/>
          <a:p>
            <a:pPr>
              <a:defRPr sz="1200" b="1">
                <a:solidFill>
                  <a:srgbClr val="2B6CB0"/>
                </a:solidFill>
              </a:defRPr>
            </a:pPr>
            <a:r>
              <a:t>🗣️ SPOKEN SCRIPT (NON-TECHNICAL)</a:t>
            </a:r>
          </a:p>
          <a:p>
            <a:pPr>
              <a:defRPr sz="1000" i="1">
                <a:solidFill>
                  <a:srgbClr val="2C5282"/>
                </a:solidFill>
              </a:defRPr>
            </a:pPr>
            <a:r>
              <a:t>"Welcome everyone. Today we are excited to introduce Stratify AI, an executive decision intelligence platform designed to solve one of the biggest challenges in business today: delayed visibility. As seen on our live web portal header, Stratify AI replaces static spreadsheets with real-time KPI visibility—tracking total revenue, profit margins, and active customer accounts live."</a:t>
            </a:r>
          </a:p>
          <a:p/>
          <a:p>
            <a:pPr>
              <a:defRPr sz="1000" b="1">
                <a:solidFill>
                  <a:srgbClr val="319795"/>
                </a:solidFill>
              </a:defRPr>
            </a:pPr>
            <a:r>
              <a:t>💡 TAKEAWAY: Stratify AI replaces static, delayed reporting with real-time strategic intelligence.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defRPr sz="1100" b="1">
                <a:solidFill>
                  <a:srgbClr val="319795"/>
                </a:solidFill>
              </a:defRPr>
            </a:pPr>
            <a:r>
              <a:t>PART: BUSINESS PROBLEM &amp; PLATFORM VISION</a:t>
            </a:r>
          </a:p>
          <a:p>
            <a:pPr>
              <a:defRPr sz="2200" b="1">
                <a:solidFill>
                  <a:srgbClr val="FFFFFF"/>
                </a:solidFill>
              </a:defRPr>
            </a:pPr>
            <a:r>
              <a:t>Person 1 — The Business Pain Points</a:t>
            </a:r>
          </a:p>
        </p:txBody>
      </p:sp>
      <p:sp>
        <p:nvSpPr>
          <p:cNvPr id="3" name="Rounded Rectangle 2"/>
          <p:cNvSpPr/>
          <p:nvPr/>
        </p:nvSpPr>
        <p:spPr>
          <a:xfrm>
            <a:off x="457200" y="1188720"/>
            <a:ext cx="5852160" cy="5303520"/>
          </a:xfrm>
          <a:prstGeom prst="roundRect">
            <a:avLst/>
          </a:prstGeom>
          <a:solidFill>
            <a:srgbClr val="F7FAFC"/>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xec_control_chart2_1786949724875.png"/>
          <p:cNvPicPr>
            <a:picLocks noChangeAspect="1"/>
          </p:cNvPicPr>
          <p:nvPr/>
        </p:nvPicPr>
        <p:blipFill>
          <a:blip r:embed="rId2"/>
          <a:stretch>
            <a:fillRect/>
          </a:stretch>
        </p:blipFill>
        <p:spPr>
          <a:xfrm>
            <a:off x="548640" y="1280160"/>
            <a:ext cx="5669280" cy="4572000"/>
          </a:xfrm>
          <a:prstGeom prst="rect">
            <a:avLst/>
          </a:prstGeom>
        </p:spPr>
      </p:pic>
      <p:sp>
        <p:nvSpPr>
          <p:cNvPr id="5" name="TextBox 4"/>
          <p:cNvSpPr txBox="1"/>
          <p:nvPr/>
        </p:nvSpPr>
        <p:spPr>
          <a:xfrm>
            <a:off x="548640" y="5897880"/>
            <a:ext cx="5669280" cy="548640"/>
          </a:xfrm>
          <a:prstGeom prst="rect">
            <a:avLst/>
          </a:prstGeom>
          <a:noFill/>
        </p:spPr>
        <p:txBody>
          <a:bodyPr wrap="none">
            <a:spAutoFit/>
          </a:bodyPr>
          <a:lstStyle/>
          <a:p>
            <a:pPr>
              <a:defRPr sz="1000" b="1">
                <a:solidFill>
                  <a:srgbClr val="1A365D"/>
                </a:solidFill>
              </a:defRPr>
            </a:pPr>
            <a:r>
              <a:t>📸 Live Streamlit Demo Screen: Financial Performance &amp; Category Margin Analysis Dashboard</a:t>
            </a:r>
          </a:p>
        </p:txBody>
      </p:sp>
      <p:sp>
        <p:nvSpPr>
          <p:cNvPr id="6" name="Rounded Rectangle 5"/>
          <p:cNvSpPr/>
          <p:nvPr/>
        </p:nvSpPr>
        <p:spPr>
          <a:xfrm>
            <a:off x="6492240" y="1188720"/>
            <a:ext cx="521208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74320" tIns="182880" rIns="274320"/>
          <a:lstStyle/>
          <a:p>
            <a:pPr algn="ctr">
              <a:defRPr sz="1200" b="1">
                <a:solidFill>
                  <a:srgbClr val="1A365D"/>
                </a:solidFill>
              </a:defRPr>
            </a:pPr>
            <a:r>
              <a:t>📌 KEY PRESENTATION POINTS</a:t>
            </a:r>
          </a:p>
          <a:p>
            <a:pPr>
              <a:defRPr sz="1050">
                <a:solidFill>
                  <a:srgbClr val="2D3748"/>
                </a:solidFill>
              </a:defRPr>
            </a:pPr>
            <a:r>
              <a:t>•  Data Silos: Store POS, inventory, and finance operating in isolation</a:t>
            </a:r>
          </a:p>
          <a:p>
            <a:pPr>
              <a:defRPr sz="1050">
                <a:solidFill>
                  <a:srgbClr val="2D3748"/>
                </a:solidFill>
              </a:defRPr>
            </a:pPr>
            <a:r>
              <a:t>•  Manual Spreadsheet Bottlenecks: Hours wasted copy-pasting data</a:t>
            </a:r>
          </a:p>
          <a:p>
            <a:pPr>
              <a:defRPr sz="1050">
                <a:solidFill>
                  <a:srgbClr val="2D3748"/>
                </a:solidFill>
              </a:defRPr>
            </a:pPr>
            <a:r>
              <a:t>•  Reactive Decision-Making: Fixing problems days after they happen</a:t>
            </a:r>
          </a:p>
          <a:p/>
          <a:p>
            <a:pPr>
              <a:defRPr sz="1200" b="1">
                <a:solidFill>
                  <a:srgbClr val="2B6CB0"/>
                </a:solidFill>
              </a:defRPr>
            </a:pPr>
            <a:r>
              <a:t>🗣️ SPOKEN SCRIPT (NON-TECHNICAL)</a:t>
            </a:r>
          </a:p>
          <a:p>
            <a:pPr>
              <a:defRPr sz="1000" i="1">
                <a:solidFill>
                  <a:srgbClr val="2C5282"/>
                </a:solidFill>
              </a:defRPr>
            </a:pPr>
            <a:r>
              <a:t>"Let's look at the problem we face without a unified system. Checkout counters generate sales, but that data sits in store databases. Finance teams manually compile reports over the weekend, and by Monday, executives see what happened last week—not what's happening right now. This latency leads to missed stockouts, lost customer retention, and delayed promotional campaigns."</a:t>
            </a:r>
          </a:p>
          <a:p/>
          <a:p>
            <a:pPr>
              <a:defRPr sz="1000" b="1">
                <a:solidFill>
                  <a:srgbClr val="319795"/>
                </a:solidFill>
              </a:defRPr>
            </a:pPr>
            <a:r>
              <a:t>💡 TAKEAWAY: Manual reporting bottlenecks burn time and hide real-time revenue risks.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defRPr sz="1100" b="1">
                <a:solidFill>
                  <a:srgbClr val="319795"/>
                </a:solidFill>
              </a:defRPr>
            </a:pPr>
            <a:r>
              <a:t>PART: BUSINESS PROBLEM &amp; PLATFORM VISION</a:t>
            </a:r>
          </a:p>
          <a:p>
            <a:pPr>
              <a:defRPr sz="2200" b="1">
                <a:solidFill>
                  <a:srgbClr val="FFFFFF"/>
                </a:solidFill>
              </a:defRPr>
            </a:pPr>
            <a:r>
              <a:t>Person 1 — The End-to-End Stratify Solution Map</a:t>
            </a:r>
          </a:p>
        </p:txBody>
      </p:sp>
      <p:sp>
        <p:nvSpPr>
          <p:cNvPr id="3" name="Rounded Rectangle 2"/>
          <p:cNvSpPr/>
          <p:nvPr/>
        </p:nvSpPr>
        <p:spPr>
          <a:xfrm>
            <a:off x="457200" y="1188720"/>
            <a:ext cx="5852160" cy="5303520"/>
          </a:xfrm>
          <a:prstGeom prst="roundRect">
            <a:avLst/>
          </a:prstGeom>
          <a:solidFill>
            <a:srgbClr val="F7FAFC"/>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xec_control_chart1_1786949705566.png"/>
          <p:cNvPicPr>
            <a:picLocks noChangeAspect="1"/>
          </p:cNvPicPr>
          <p:nvPr/>
        </p:nvPicPr>
        <p:blipFill>
          <a:blip r:embed="rId2"/>
          <a:stretch>
            <a:fillRect/>
          </a:stretch>
        </p:blipFill>
        <p:spPr>
          <a:xfrm>
            <a:off x="548640" y="1280160"/>
            <a:ext cx="5669280" cy="4572000"/>
          </a:xfrm>
          <a:prstGeom prst="rect">
            <a:avLst/>
          </a:prstGeom>
        </p:spPr>
      </p:pic>
      <p:sp>
        <p:nvSpPr>
          <p:cNvPr id="5" name="TextBox 4"/>
          <p:cNvSpPr txBox="1"/>
          <p:nvPr/>
        </p:nvSpPr>
        <p:spPr>
          <a:xfrm>
            <a:off x="548640" y="5897880"/>
            <a:ext cx="5669280" cy="548640"/>
          </a:xfrm>
          <a:prstGeom prst="rect">
            <a:avLst/>
          </a:prstGeom>
          <a:noFill/>
        </p:spPr>
        <p:txBody>
          <a:bodyPr wrap="none">
            <a:spAutoFit/>
          </a:bodyPr>
          <a:lstStyle/>
          <a:p>
            <a:pPr>
              <a:defRPr sz="1000" b="1">
                <a:solidFill>
                  <a:srgbClr val="1A365D"/>
                </a:solidFill>
              </a:defRPr>
            </a:pPr>
            <a:r>
              <a:t>📸 Live Streamlit Demo Screen: 5-Stage High-Level Business Flowchart (Store ➔ Clean ➔ Analyze ➔ Display ➔ AI Strategy ➔ Email)</a:t>
            </a:r>
          </a:p>
        </p:txBody>
      </p:sp>
      <p:sp>
        <p:nvSpPr>
          <p:cNvPr id="6" name="Rounded Rectangle 5"/>
          <p:cNvSpPr/>
          <p:nvPr/>
        </p:nvSpPr>
        <p:spPr>
          <a:xfrm>
            <a:off x="6492240" y="1188720"/>
            <a:ext cx="521208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74320" tIns="182880" rIns="274320"/>
          <a:lstStyle/>
          <a:p>
            <a:pPr algn="ctr">
              <a:defRPr sz="1200" b="1">
                <a:solidFill>
                  <a:srgbClr val="1A365D"/>
                </a:solidFill>
              </a:defRPr>
            </a:pPr>
            <a:r>
              <a:t>📌 KEY PRESENTATION POINTS</a:t>
            </a:r>
          </a:p>
          <a:p>
            <a:pPr>
              <a:defRPr sz="1050">
                <a:solidFill>
                  <a:srgbClr val="2D3748"/>
                </a:solidFill>
              </a:defRPr>
            </a:pPr>
            <a:r>
              <a:t>•  Stage 1: Real-time store transaction capture</a:t>
            </a:r>
          </a:p>
          <a:p>
            <a:pPr>
              <a:defRPr sz="1050">
                <a:solidFill>
                  <a:srgbClr val="2D3748"/>
                </a:solidFill>
              </a:defRPr>
            </a:pPr>
            <a:r>
              <a:t>•  Stage 2: Automated digital quality control filter</a:t>
            </a:r>
          </a:p>
          <a:p>
            <a:pPr>
              <a:defRPr sz="1050">
                <a:solidFill>
                  <a:srgbClr val="2D3748"/>
                </a:solidFill>
              </a:defRPr>
            </a:pPr>
            <a:r>
              <a:t>•  Stage 3: Customer intelligence &amp; sales forecasting</a:t>
            </a:r>
          </a:p>
          <a:p>
            <a:pPr>
              <a:defRPr sz="1050">
                <a:solidFill>
                  <a:srgbClr val="2D3748"/>
                </a:solidFill>
              </a:defRPr>
            </a:pPr>
            <a:r>
              <a:t>•  Stage 4: Executive live control center</a:t>
            </a:r>
          </a:p>
          <a:p>
            <a:pPr>
              <a:defRPr sz="1050">
                <a:solidFill>
                  <a:srgbClr val="2D3748"/>
                </a:solidFill>
              </a:defRPr>
            </a:pPr>
            <a:r>
              <a:t>•  Stage 5: AI strategic recommendations &amp; automated email briefings</a:t>
            </a:r>
          </a:p>
          <a:p/>
          <a:p>
            <a:pPr>
              <a:defRPr sz="1200" b="1">
                <a:solidFill>
                  <a:srgbClr val="2B6CB0"/>
                </a:solidFill>
              </a:defRPr>
            </a:pPr>
            <a:r>
              <a:t>🗣️ SPOKEN SCRIPT (NON-TECHNICAL)</a:t>
            </a:r>
          </a:p>
          <a:p>
            <a:pPr>
              <a:defRPr sz="1000" i="1">
                <a:solidFill>
                  <a:srgbClr val="2C5282"/>
                </a:solidFill>
              </a:defRPr>
            </a:pPr>
            <a:r>
              <a:t>"To solve this, we built a 5-stage automated business pipeline. As customer purchases occur at store terminals, the data is captured, instantly filtered for 100% data quality, enriched with customer segments and predictive forecasts, presented on a live control dashboard, analyzed by our built-in AI strategy advisor, and delivered as an executive morning briefing email. Let's pass to Person 2 to see how store sales are captured and cleaned."</a:t>
            </a:r>
          </a:p>
          <a:p/>
          <a:p>
            <a:pPr>
              <a:defRPr sz="1000" b="1">
                <a:solidFill>
                  <a:srgbClr val="319795"/>
                </a:solidFill>
              </a:defRPr>
            </a:pPr>
            <a:r>
              <a:t>💡 TAKEAWAY: Stratify AI connects raw store transactions directly to executive inbox briefings.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defRPr sz="1100" b="1">
                <a:solidFill>
                  <a:srgbClr val="319795"/>
                </a:solidFill>
              </a:defRPr>
            </a:pPr>
            <a:r>
              <a:t>PART: LIVE STORE CAPTURE &amp; SMART DATA QUALITY CONTROL</a:t>
            </a:r>
          </a:p>
          <a:p>
            <a:pPr>
              <a:defRPr sz="2200" b="1">
                <a:solidFill>
                  <a:srgbClr val="FFFFFF"/>
                </a:solidFill>
              </a:defRPr>
            </a:pPr>
            <a:r>
              <a:t>Person 2 — Capturing Sales at the Point of Purchase</a:t>
            </a:r>
          </a:p>
        </p:txBody>
      </p:sp>
      <p:sp>
        <p:nvSpPr>
          <p:cNvPr id="3" name="Rounded Rectangle 2"/>
          <p:cNvSpPr/>
          <p:nvPr/>
        </p:nvSpPr>
        <p:spPr>
          <a:xfrm>
            <a:off x="457200" y="1188720"/>
            <a:ext cx="5852160" cy="5303520"/>
          </a:xfrm>
          <a:prstGeom prst="roundRect">
            <a:avLst/>
          </a:prstGeom>
          <a:solidFill>
            <a:srgbClr val="F7FAFC"/>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ata_quality_top_1786950543537.png"/>
          <p:cNvPicPr>
            <a:picLocks noChangeAspect="1"/>
          </p:cNvPicPr>
          <p:nvPr/>
        </p:nvPicPr>
        <p:blipFill>
          <a:blip r:embed="rId2"/>
          <a:stretch>
            <a:fillRect/>
          </a:stretch>
        </p:blipFill>
        <p:spPr>
          <a:xfrm>
            <a:off x="548640" y="1280160"/>
            <a:ext cx="5669280" cy="4572000"/>
          </a:xfrm>
          <a:prstGeom prst="rect">
            <a:avLst/>
          </a:prstGeom>
        </p:spPr>
      </p:pic>
      <p:sp>
        <p:nvSpPr>
          <p:cNvPr id="5" name="TextBox 4"/>
          <p:cNvSpPr txBox="1"/>
          <p:nvPr/>
        </p:nvSpPr>
        <p:spPr>
          <a:xfrm>
            <a:off x="548640" y="5897880"/>
            <a:ext cx="5669280" cy="548640"/>
          </a:xfrm>
          <a:prstGeom prst="rect">
            <a:avLst/>
          </a:prstGeom>
          <a:noFill/>
        </p:spPr>
        <p:txBody>
          <a:bodyPr wrap="none">
            <a:spAutoFit/>
          </a:bodyPr>
          <a:lstStyle/>
          <a:p>
            <a:pPr>
              <a:defRPr sz="1000" b="1">
                <a:solidFill>
                  <a:srgbClr val="1A365D"/>
                </a:solidFill>
              </a:defRPr>
            </a:pPr>
            <a:r>
              <a:t>📸 Live Streamlit Demo Screen: Enterprise Data Quality &amp; SLA Governance Center Dashboard</a:t>
            </a:r>
          </a:p>
        </p:txBody>
      </p:sp>
      <p:sp>
        <p:nvSpPr>
          <p:cNvPr id="6" name="Rounded Rectangle 5"/>
          <p:cNvSpPr/>
          <p:nvPr/>
        </p:nvSpPr>
        <p:spPr>
          <a:xfrm>
            <a:off x="6492240" y="1188720"/>
            <a:ext cx="521208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74320" tIns="182880" rIns="274320"/>
          <a:lstStyle/>
          <a:p>
            <a:pPr algn="ctr">
              <a:defRPr sz="1200" b="1">
                <a:solidFill>
                  <a:srgbClr val="1A365D"/>
                </a:solidFill>
              </a:defRPr>
            </a:pPr>
            <a:r>
              <a:t>📌 KEY PRESENTATION POINTS</a:t>
            </a:r>
          </a:p>
          <a:p>
            <a:pPr>
              <a:defRPr sz="1050">
                <a:solidFill>
                  <a:srgbClr val="2D3748"/>
                </a:solidFill>
              </a:defRPr>
            </a:pPr>
            <a:r>
              <a:t>•  Real-time transaction capture from retail stores</a:t>
            </a:r>
          </a:p>
          <a:p>
            <a:pPr>
              <a:defRPr sz="1050">
                <a:solidFill>
                  <a:srgbClr val="2D3748"/>
                </a:solidFill>
              </a:defRPr>
            </a:pPr>
            <a:r>
              <a:t>•  Tracking revenue, units sold, payment methods, and store IDs</a:t>
            </a:r>
          </a:p>
          <a:p>
            <a:pPr>
              <a:defRPr sz="1050">
                <a:solidFill>
                  <a:srgbClr val="2D3748"/>
                </a:solidFill>
              </a:defRPr>
            </a:pPr>
            <a:r>
              <a:t>•  Eliminating end-of-day batch filing delays</a:t>
            </a:r>
          </a:p>
          <a:p/>
          <a:p>
            <a:pPr>
              <a:defRPr sz="1200" b="1">
                <a:solidFill>
                  <a:srgbClr val="2B6CB0"/>
                </a:solidFill>
              </a:defRPr>
            </a:pPr>
            <a:r>
              <a:t>🗣️ SPOKEN SCRIPT (NON-TECHNICAL)</a:t>
            </a:r>
          </a:p>
          <a:p>
            <a:pPr>
              <a:defRPr sz="1000" i="1">
                <a:solidFill>
                  <a:srgbClr val="2C5282"/>
                </a:solidFill>
              </a:defRPr>
            </a:pPr>
            <a:r>
              <a:t>"Thanks Person 1. Every business decision is only as good as the data behind it. In our platform, step one begins at the store level. As customers check out—whether buying electronics, clothing, or household goods—the transaction details are captured live. Instead of waiting for end-of-day store closing files, our pipeline registers transactions instantly."</a:t>
            </a:r>
          </a:p>
          <a:p/>
          <a:p>
            <a:pPr>
              <a:defRPr sz="1000" b="1">
                <a:solidFill>
                  <a:srgbClr val="319795"/>
                </a:solidFill>
              </a:defRPr>
            </a:pPr>
            <a:r>
              <a:t>💡 TAKEAWAY: Real-time store capture ensures business metrics reflect immediate market reality.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defRPr sz="1100" b="1">
                <a:solidFill>
                  <a:srgbClr val="319795"/>
                </a:solidFill>
              </a:defRPr>
            </a:pPr>
            <a:r>
              <a:t>PART: LIVE STORE CAPTURE &amp; SMART DATA QUALITY CONTROL</a:t>
            </a:r>
          </a:p>
          <a:p>
            <a:pPr>
              <a:defRPr sz="2200" b="1">
                <a:solidFill>
                  <a:srgbClr val="FFFFFF"/>
                </a:solidFill>
              </a:defRPr>
            </a:pPr>
            <a:r>
              <a:t>Person 2 — The Digital Quality Control Filter</a:t>
            </a:r>
          </a:p>
        </p:txBody>
      </p:sp>
      <p:sp>
        <p:nvSpPr>
          <p:cNvPr id="3" name="Rounded Rectangle 2"/>
          <p:cNvSpPr/>
          <p:nvPr/>
        </p:nvSpPr>
        <p:spPr>
          <a:xfrm>
            <a:off x="457200" y="1188720"/>
            <a:ext cx="5852160" cy="5303520"/>
          </a:xfrm>
          <a:prstGeom prst="roundRect">
            <a:avLst/>
          </a:prstGeom>
          <a:solidFill>
            <a:srgbClr val="F7FAFC"/>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ata_quality_mid1_1786950567981.png"/>
          <p:cNvPicPr>
            <a:picLocks noChangeAspect="1"/>
          </p:cNvPicPr>
          <p:nvPr/>
        </p:nvPicPr>
        <p:blipFill>
          <a:blip r:embed="rId2"/>
          <a:stretch>
            <a:fillRect/>
          </a:stretch>
        </p:blipFill>
        <p:spPr>
          <a:xfrm>
            <a:off x="548640" y="1280160"/>
            <a:ext cx="5669280" cy="4572000"/>
          </a:xfrm>
          <a:prstGeom prst="rect">
            <a:avLst/>
          </a:prstGeom>
        </p:spPr>
      </p:pic>
      <p:sp>
        <p:nvSpPr>
          <p:cNvPr id="5" name="TextBox 4"/>
          <p:cNvSpPr txBox="1"/>
          <p:nvPr/>
        </p:nvSpPr>
        <p:spPr>
          <a:xfrm>
            <a:off x="548640" y="5897880"/>
            <a:ext cx="5669280" cy="548640"/>
          </a:xfrm>
          <a:prstGeom prst="rect">
            <a:avLst/>
          </a:prstGeom>
          <a:noFill/>
        </p:spPr>
        <p:txBody>
          <a:bodyPr wrap="none">
            <a:spAutoFit/>
          </a:bodyPr>
          <a:lstStyle/>
          <a:p>
            <a:pPr>
              <a:defRPr sz="1000" b="1">
                <a:solidFill>
                  <a:srgbClr val="1A365D"/>
                </a:solidFill>
              </a:defRPr>
            </a:pPr>
            <a:r>
              <a:t>📸 Live Streamlit Demo Screen: 100% Data Completeness, Uniqueness &amp; SLA Governance Matrix</a:t>
            </a:r>
          </a:p>
        </p:txBody>
      </p:sp>
      <p:sp>
        <p:nvSpPr>
          <p:cNvPr id="6" name="Rounded Rectangle 5"/>
          <p:cNvSpPr/>
          <p:nvPr/>
        </p:nvSpPr>
        <p:spPr>
          <a:xfrm>
            <a:off x="6492240" y="1188720"/>
            <a:ext cx="521208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74320" tIns="182880" rIns="274320"/>
          <a:lstStyle/>
          <a:p>
            <a:pPr algn="ctr">
              <a:defRPr sz="1200" b="1">
                <a:solidFill>
                  <a:srgbClr val="1A365D"/>
                </a:solidFill>
              </a:defRPr>
            </a:pPr>
            <a:r>
              <a:t>📌 KEY PRESENTATION POINTS</a:t>
            </a:r>
          </a:p>
          <a:p>
            <a:pPr>
              <a:defRPr sz="1050">
                <a:solidFill>
                  <a:srgbClr val="2D3748"/>
                </a:solidFill>
              </a:defRPr>
            </a:pPr>
            <a:r>
              <a:t>•  Automatic deduplication: Ensuring identical receipts are never double-counted (100.0% Uniqueness)</a:t>
            </a:r>
          </a:p>
          <a:p>
            <a:pPr>
              <a:defRPr sz="1050">
                <a:solidFill>
                  <a:srgbClr val="2D3748"/>
                </a:solidFill>
              </a:defRPr>
            </a:pPr>
            <a:r>
              <a:t>•  Multi-rule verification: Checking for valid prices, positive quantities, and customer IDs (100.0% Validity)</a:t>
            </a:r>
          </a:p>
          <a:p>
            <a:pPr>
              <a:defRPr sz="1050">
                <a:solidFill>
                  <a:srgbClr val="2D3748"/>
                </a:solidFill>
              </a:defRPr>
            </a:pPr>
            <a:r>
              <a:t>•  Quarantine isolation: Routing erroneous records into a review folder without stopping the pipeline</a:t>
            </a:r>
          </a:p>
          <a:p/>
          <a:p>
            <a:pPr>
              <a:defRPr sz="1200" b="1">
                <a:solidFill>
                  <a:srgbClr val="2B6CB0"/>
                </a:solidFill>
              </a:defRPr>
            </a:pPr>
            <a:r>
              <a:t>🗣️ SPOKEN SCRIPT (NON-TECHNICAL)</a:t>
            </a:r>
          </a:p>
          <a:p>
            <a:pPr>
              <a:defRPr sz="1000" i="1">
                <a:solidFill>
                  <a:srgbClr val="2C5282"/>
                </a:solidFill>
              </a:defRPr>
            </a:pPr>
            <a:r>
              <a:t>"Raw data is often noisy—duplicate scans occur, network glitches send incomplete records, or pricing glitches appear. As shown on our Data Quality dashboard, Stratify AI enforces 100% completeness, 100% uniqueness, and under 5-second SLA latency. Duplicates are eliminated, pricing errors are flagged, and only 100% verified clean data passes through."</a:t>
            </a:r>
          </a:p>
          <a:p/>
          <a:p>
            <a:pPr>
              <a:defRPr sz="1000" b="1">
                <a:solidFill>
                  <a:srgbClr val="319795"/>
                </a:solidFill>
              </a:defRPr>
            </a:pPr>
            <a:r>
              <a:t>💡 TAKEAWAY: Automated data verification guarantees 100% reliable executive reporting.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defRPr sz="1100" b="1">
                <a:solidFill>
                  <a:srgbClr val="319795"/>
                </a:solidFill>
              </a:defRPr>
            </a:pPr>
            <a:r>
              <a:t>PART: LIVE STORE CAPTURE &amp; SMART DATA QUALITY CONTROL</a:t>
            </a:r>
          </a:p>
          <a:p>
            <a:pPr>
              <a:defRPr sz="2200" b="1">
                <a:solidFill>
                  <a:srgbClr val="FFFFFF"/>
                </a:solidFill>
              </a:defRPr>
            </a:pPr>
            <a:r>
              <a:t>Person 2 — The Single Source of Business Truth</a:t>
            </a:r>
          </a:p>
        </p:txBody>
      </p:sp>
      <p:sp>
        <p:nvSpPr>
          <p:cNvPr id="3" name="Rounded Rectangle 2"/>
          <p:cNvSpPr/>
          <p:nvPr/>
        </p:nvSpPr>
        <p:spPr>
          <a:xfrm>
            <a:off x="457200" y="1188720"/>
            <a:ext cx="5852160" cy="5303520"/>
          </a:xfrm>
          <a:prstGeom prst="roundRect">
            <a:avLst/>
          </a:prstGeom>
          <a:solidFill>
            <a:srgbClr val="F7FAFC"/>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ata_quality_top_1786950543537.png"/>
          <p:cNvPicPr>
            <a:picLocks noChangeAspect="1"/>
          </p:cNvPicPr>
          <p:nvPr/>
        </p:nvPicPr>
        <p:blipFill>
          <a:blip r:embed="rId2"/>
          <a:stretch>
            <a:fillRect/>
          </a:stretch>
        </p:blipFill>
        <p:spPr>
          <a:xfrm>
            <a:off x="548640" y="1280160"/>
            <a:ext cx="5669280" cy="4572000"/>
          </a:xfrm>
          <a:prstGeom prst="rect">
            <a:avLst/>
          </a:prstGeom>
        </p:spPr>
      </p:pic>
      <p:sp>
        <p:nvSpPr>
          <p:cNvPr id="5" name="TextBox 4"/>
          <p:cNvSpPr txBox="1"/>
          <p:nvPr/>
        </p:nvSpPr>
        <p:spPr>
          <a:xfrm>
            <a:off x="548640" y="5897880"/>
            <a:ext cx="5669280" cy="548640"/>
          </a:xfrm>
          <a:prstGeom prst="rect">
            <a:avLst/>
          </a:prstGeom>
          <a:noFill/>
        </p:spPr>
        <p:txBody>
          <a:bodyPr wrap="none">
            <a:spAutoFit/>
          </a:bodyPr>
          <a:lstStyle/>
          <a:p>
            <a:pPr>
              <a:defRPr sz="1000" b="1">
                <a:solidFill>
                  <a:srgbClr val="1A365D"/>
                </a:solidFill>
              </a:defRPr>
            </a:pPr>
            <a:r>
              <a:t>📸 Live Streamlit Demo Screen: Cloud Repository Status showing audited data ready for Analytics</a:t>
            </a:r>
          </a:p>
        </p:txBody>
      </p:sp>
      <p:sp>
        <p:nvSpPr>
          <p:cNvPr id="6" name="Rounded Rectangle 5"/>
          <p:cNvSpPr/>
          <p:nvPr/>
        </p:nvSpPr>
        <p:spPr>
          <a:xfrm>
            <a:off x="6492240" y="1188720"/>
            <a:ext cx="521208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74320" tIns="182880" rIns="274320"/>
          <a:lstStyle/>
          <a:p>
            <a:pPr algn="ctr">
              <a:defRPr sz="1200" b="1">
                <a:solidFill>
                  <a:srgbClr val="1A365D"/>
                </a:solidFill>
              </a:defRPr>
            </a:pPr>
            <a:r>
              <a:t>📌 KEY PRESENTATION POINTS</a:t>
            </a:r>
          </a:p>
          <a:p>
            <a:pPr>
              <a:defRPr sz="1050">
                <a:solidFill>
                  <a:srgbClr val="2D3748"/>
                </a:solidFill>
              </a:defRPr>
            </a:pPr>
            <a:r>
              <a:t>•  Unified cloud storage for all store locations</a:t>
            </a:r>
          </a:p>
          <a:p>
            <a:pPr>
              <a:defRPr sz="1050">
                <a:solidFill>
                  <a:srgbClr val="2D3748"/>
                </a:solidFill>
              </a:defRPr>
            </a:pPr>
            <a:r>
              <a:t>•  Idempotent loading: Updating existing records smoothly without creating duplicates</a:t>
            </a:r>
          </a:p>
          <a:p>
            <a:pPr>
              <a:defRPr sz="1050">
                <a:solidFill>
                  <a:srgbClr val="2D3748"/>
                </a:solidFill>
              </a:defRPr>
            </a:pPr>
            <a:r>
              <a:t>•  Instant readiness for analytics, forecasting, and executive dashboards</a:t>
            </a:r>
          </a:p>
          <a:p/>
          <a:p>
            <a:pPr>
              <a:defRPr sz="1200" b="1">
                <a:solidFill>
                  <a:srgbClr val="2B6CB0"/>
                </a:solidFill>
              </a:defRPr>
            </a:pPr>
            <a:r>
              <a:t>🗣️ SPOKEN SCRIPT (NON-TECHNICAL)</a:t>
            </a:r>
          </a:p>
          <a:p>
            <a:pPr>
              <a:defRPr sz="1000" i="1">
                <a:solidFill>
                  <a:srgbClr val="2C5282"/>
                </a:solidFill>
              </a:defRPr>
            </a:pPr>
            <a:r>
              <a:t>"Once verified, the clean transactions enter our central enterprise data repository. This creates a single source of truth for the entire company. Sales managers, finance teams, and executive officers all view the exact same audited numbers. Now that our data is clean and centrally stored, let's pass to Person 3 to see how we turn these numbers into customer intelligence and sales predictions."</a:t>
            </a:r>
          </a:p>
          <a:p/>
          <a:p>
            <a:pPr>
              <a:defRPr sz="1000" b="1">
                <a:solidFill>
                  <a:srgbClr val="319795"/>
                </a:solidFill>
              </a:defRPr>
            </a:pPr>
            <a:r>
              <a:t>💡 TAKEAWAY: A single source of clean data aligns all teams under one corporate truth.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defRPr sz="1100" b="1">
                <a:solidFill>
                  <a:srgbClr val="319795"/>
                </a:solidFill>
              </a:defRPr>
            </a:pPr>
            <a:r>
              <a:t>PART: CUSTOMER INTELLIGENCE &amp; SALES GROWTH FORECASTING</a:t>
            </a:r>
          </a:p>
          <a:p>
            <a:pPr>
              <a:defRPr sz="2200" b="1">
                <a:solidFill>
                  <a:srgbClr val="FFFFFF"/>
                </a:solidFill>
              </a:defRPr>
            </a:pPr>
            <a:r>
              <a:t>Person 3 — Customer RFM Segmentation Matrix</a:t>
            </a:r>
          </a:p>
        </p:txBody>
      </p:sp>
      <p:sp>
        <p:nvSpPr>
          <p:cNvPr id="3" name="Rounded Rectangle 2"/>
          <p:cNvSpPr/>
          <p:nvPr/>
        </p:nvSpPr>
        <p:spPr>
          <a:xfrm>
            <a:off x="457200" y="1188720"/>
            <a:ext cx="5852160" cy="5303520"/>
          </a:xfrm>
          <a:prstGeom prst="roundRect">
            <a:avLst/>
          </a:prstGeom>
          <a:solidFill>
            <a:srgbClr val="F7FAFC"/>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ustomer_analytics_top_1786949921371.png"/>
          <p:cNvPicPr>
            <a:picLocks noChangeAspect="1"/>
          </p:cNvPicPr>
          <p:nvPr/>
        </p:nvPicPr>
        <p:blipFill>
          <a:blip r:embed="rId2"/>
          <a:stretch>
            <a:fillRect/>
          </a:stretch>
        </p:blipFill>
        <p:spPr>
          <a:xfrm>
            <a:off x="548640" y="1280160"/>
            <a:ext cx="5669280" cy="4572000"/>
          </a:xfrm>
          <a:prstGeom prst="rect">
            <a:avLst/>
          </a:prstGeom>
        </p:spPr>
      </p:pic>
      <p:sp>
        <p:nvSpPr>
          <p:cNvPr id="5" name="TextBox 4"/>
          <p:cNvSpPr txBox="1"/>
          <p:nvPr/>
        </p:nvSpPr>
        <p:spPr>
          <a:xfrm>
            <a:off x="548640" y="5897880"/>
            <a:ext cx="5669280" cy="548640"/>
          </a:xfrm>
          <a:prstGeom prst="rect">
            <a:avLst/>
          </a:prstGeom>
          <a:noFill/>
        </p:spPr>
        <p:txBody>
          <a:bodyPr wrap="none">
            <a:spAutoFit/>
          </a:bodyPr>
          <a:lstStyle/>
          <a:p>
            <a:pPr>
              <a:defRPr sz="1000" b="1">
                <a:solidFill>
                  <a:srgbClr val="1A365D"/>
                </a:solidFill>
              </a:defRPr>
            </a:pPr>
            <a:r>
              <a:t>📸 Live Streamlit Demo Screen: Customer RFM Segment Distribution (112 Champions, 42 At-Risk)</a:t>
            </a:r>
          </a:p>
        </p:txBody>
      </p:sp>
      <p:sp>
        <p:nvSpPr>
          <p:cNvPr id="6" name="Rounded Rectangle 5"/>
          <p:cNvSpPr/>
          <p:nvPr/>
        </p:nvSpPr>
        <p:spPr>
          <a:xfrm>
            <a:off x="6492240" y="1188720"/>
            <a:ext cx="521208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74320" tIns="182880" rIns="274320"/>
          <a:lstStyle/>
          <a:p>
            <a:pPr algn="ctr">
              <a:defRPr sz="1200" b="1">
                <a:solidFill>
                  <a:srgbClr val="1A365D"/>
                </a:solidFill>
              </a:defRPr>
            </a:pPr>
            <a:r>
              <a:t>📌 KEY PRESENTATION POINTS</a:t>
            </a:r>
          </a:p>
          <a:p>
            <a:pPr>
              <a:defRPr sz="1050">
                <a:solidFill>
                  <a:srgbClr val="2D3748"/>
                </a:solidFill>
              </a:defRPr>
            </a:pPr>
            <a:r>
              <a:t>•  Recency: How recently did the customer buy?</a:t>
            </a:r>
          </a:p>
          <a:p>
            <a:pPr>
              <a:defRPr sz="1050">
                <a:solidFill>
                  <a:srgbClr val="2D3748"/>
                </a:solidFill>
              </a:defRPr>
            </a:pPr>
            <a:r>
              <a:t>•  Frequency: How often do they purchase?</a:t>
            </a:r>
          </a:p>
          <a:p>
            <a:pPr>
              <a:defRPr sz="1050">
                <a:solidFill>
                  <a:srgbClr val="2D3748"/>
                </a:solidFill>
              </a:defRPr>
            </a:pPr>
            <a:r>
              <a:t>•  Monetary: How much do they spend?</a:t>
            </a:r>
          </a:p>
          <a:p>
            <a:pPr>
              <a:defRPr sz="1050">
                <a:solidFill>
                  <a:srgbClr val="2D3748"/>
                </a:solidFill>
              </a:defRPr>
            </a:pPr>
            <a:r>
              <a:t>•  Live dashboard metrics: 112 High-Value Champions, 42 At-Risk Customers</a:t>
            </a:r>
          </a:p>
          <a:p/>
          <a:p>
            <a:pPr>
              <a:defRPr sz="1200" b="1">
                <a:solidFill>
                  <a:srgbClr val="2B6CB0"/>
                </a:solidFill>
              </a:defRPr>
            </a:pPr>
            <a:r>
              <a:t>🗣️ SPOKEN SCRIPT (NON-TECHNICAL)</a:t>
            </a:r>
          </a:p>
          <a:p>
            <a:pPr>
              <a:defRPr sz="1000" i="1">
                <a:solidFill>
                  <a:srgbClr val="2C5282"/>
                </a:solidFill>
              </a:defRPr>
            </a:pPr>
            <a:r>
              <a:t>"Thank you Person 2. Raw sales numbers tell us how much revenue came in, but customer analytics tell us WHO is spending and WHY. As seen on our Customer RFM dashboard, Stratify AI automatically groups customers into behavioral segments. We can instantly pinpoint our 112 High-Value Champions driving core revenue, as well as 42 At-Risk accounts that require win-back offers."</a:t>
            </a:r>
          </a:p>
          <a:p/>
          <a:p>
            <a:pPr>
              <a:defRPr sz="1000" b="1">
                <a:solidFill>
                  <a:srgbClr val="319795"/>
                </a:solidFill>
              </a:defRPr>
            </a:pPr>
            <a:r>
              <a:t>💡 TAKEAWAY: RFM segmentation transforms generic customer lists into targeted revenue retention strategies.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defRPr sz="1100" b="1">
                <a:solidFill>
                  <a:srgbClr val="319795"/>
                </a:solidFill>
              </a:defRPr>
            </a:pPr>
            <a:r>
              <a:t>PART: CUSTOMER INTELLIGENCE &amp; SALES GROWTH FORECASTING</a:t>
            </a:r>
          </a:p>
          <a:p>
            <a:pPr>
              <a:defRPr sz="2200" b="1">
                <a:solidFill>
                  <a:srgbClr val="FFFFFF"/>
                </a:solidFill>
              </a:defRPr>
            </a:pPr>
            <a:r>
              <a:t>Person 3 — Predictive Sales &amp; Revenue Forecasting</a:t>
            </a:r>
          </a:p>
        </p:txBody>
      </p:sp>
      <p:sp>
        <p:nvSpPr>
          <p:cNvPr id="3" name="Rounded Rectangle 2"/>
          <p:cNvSpPr/>
          <p:nvPr/>
        </p:nvSpPr>
        <p:spPr>
          <a:xfrm>
            <a:off x="457200" y="1188720"/>
            <a:ext cx="5852160" cy="5303520"/>
          </a:xfrm>
          <a:prstGeom prst="roundRect">
            <a:avLst/>
          </a:prstGeom>
          <a:solidFill>
            <a:srgbClr val="F7FAFC"/>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ales_forecasting_mid1_1786950078150.png"/>
          <p:cNvPicPr>
            <a:picLocks noChangeAspect="1"/>
          </p:cNvPicPr>
          <p:nvPr/>
        </p:nvPicPr>
        <p:blipFill>
          <a:blip r:embed="rId2"/>
          <a:stretch>
            <a:fillRect/>
          </a:stretch>
        </p:blipFill>
        <p:spPr>
          <a:xfrm>
            <a:off x="548640" y="1280160"/>
            <a:ext cx="5669280" cy="4572000"/>
          </a:xfrm>
          <a:prstGeom prst="rect">
            <a:avLst/>
          </a:prstGeom>
        </p:spPr>
      </p:pic>
      <p:sp>
        <p:nvSpPr>
          <p:cNvPr id="5" name="TextBox 4"/>
          <p:cNvSpPr txBox="1"/>
          <p:nvPr/>
        </p:nvSpPr>
        <p:spPr>
          <a:xfrm>
            <a:off x="548640" y="5897880"/>
            <a:ext cx="5669280" cy="548640"/>
          </a:xfrm>
          <a:prstGeom prst="rect">
            <a:avLst/>
          </a:prstGeom>
          <a:noFill/>
        </p:spPr>
        <p:txBody>
          <a:bodyPr wrap="none">
            <a:spAutoFit/>
          </a:bodyPr>
          <a:lstStyle/>
          <a:p>
            <a:pPr>
              <a:defRPr sz="1000" b="1">
                <a:solidFill>
                  <a:srgbClr val="1A365D"/>
                </a:solidFill>
              </a:defRPr>
            </a:pPr>
            <a:r>
              <a:t>📸 Live Streamlit Demo Screen: Prophet &amp; XGBoost Multi-Horizon Forecasting Chart (95.0% Confidence)</a:t>
            </a:r>
          </a:p>
        </p:txBody>
      </p:sp>
      <p:sp>
        <p:nvSpPr>
          <p:cNvPr id="6" name="Rounded Rectangle 5"/>
          <p:cNvSpPr/>
          <p:nvPr/>
        </p:nvSpPr>
        <p:spPr>
          <a:xfrm>
            <a:off x="6492240" y="1188720"/>
            <a:ext cx="521208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74320" tIns="182880" rIns="274320"/>
          <a:lstStyle/>
          <a:p>
            <a:pPr algn="ctr">
              <a:defRPr sz="1200" b="1">
                <a:solidFill>
                  <a:srgbClr val="1A365D"/>
                </a:solidFill>
              </a:defRPr>
            </a:pPr>
            <a:r>
              <a:t>📌 KEY PRESENTATION POINTS</a:t>
            </a:r>
          </a:p>
          <a:p>
            <a:pPr>
              <a:defRPr sz="1050">
                <a:solidFill>
                  <a:srgbClr val="2D3748"/>
                </a:solidFill>
              </a:defRPr>
            </a:pPr>
            <a:r>
              <a:t>•  Multi-horizon predictive forecasting (30, 60, 90, 180 days)</a:t>
            </a:r>
          </a:p>
          <a:p>
            <a:pPr>
              <a:defRPr sz="1050">
                <a:solidFill>
                  <a:srgbClr val="2D3748"/>
                </a:solidFill>
              </a:defRPr>
            </a:pPr>
            <a:r>
              <a:t>•  Mean Absolute Percentage Error (MAPE): 4.2% accuracy</a:t>
            </a:r>
          </a:p>
          <a:p>
            <a:pPr>
              <a:defRPr sz="1050">
                <a:solidFill>
                  <a:srgbClr val="2D3748"/>
                </a:solidFill>
              </a:defRPr>
            </a:pPr>
            <a:r>
              <a:t>•  What-If Scenario analysis for pricing and promotional changes</a:t>
            </a:r>
          </a:p>
          <a:p/>
          <a:p>
            <a:pPr>
              <a:defRPr sz="1200" b="1">
                <a:solidFill>
                  <a:srgbClr val="2B6CB0"/>
                </a:solidFill>
              </a:defRPr>
            </a:pPr>
            <a:r>
              <a:t>🗣️ SPOKEN SCRIPT (NON-TECHNICAL)</a:t>
            </a:r>
          </a:p>
          <a:p>
            <a:pPr>
              <a:defRPr sz="1000" i="1">
                <a:solidFill>
                  <a:srgbClr val="2C5282"/>
                </a:solidFill>
              </a:defRPr>
            </a:pPr>
            <a:r>
              <a:t>"Beyond understanding past purchases, business leaders need to look forward. As shown in our ML Predictive Forecasting view, our Prophet and XGBoost models project revenue with 95% confidence intervals and an impressive 4.2% MAPE accuracy. This allows store managers to anticipate demand spikes and schedule inventory orders with precision."</a:t>
            </a:r>
          </a:p>
          <a:p/>
          <a:p>
            <a:pPr>
              <a:defRPr sz="1000" b="1">
                <a:solidFill>
                  <a:srgbClr val="319795"/>
                </a:solidFill>
              </a:defRPr>
            </a:pPr>
            <a:r>
              <a:t>💡 TAKEAWAY: Predictive forecasting turns reactive planning into proactive revenue management.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defRPr sz="1100" b="1">
                <a:solidFill>
                  <a:srgbClr val="319795"/>
                </a:solidFill>
              </a:defRPr>
            </a:pPr>
            <a:r>
              <a:t>PART: CUSTOMER INTELLIGENCE &amp; SALES GROWTH FORECASTING</a:t>
            </a:r>
          </a:p>
          <a:p>
            <a:pPr>
              <a:defRPr sz="2200" b="1">
                <a:solidFill>
                  <a:srgbClr val="FFFFFF"/>
                </a:solidFill>
              </a:defRPr>
            </a:pPr>
            <a:r>
              <a:t>Person 3 — Inventory Health &amp; Margin Protection</a:t>
            </a:r>
          </a:p>
        </p:txBody>
      </p:sp>
      <p:sp>
        <p:nvSpPr>
          <p:cNvPr id="3" name="Rounded Rectangle 2"/>
          <p:cNvSpPr/>
          <p:nvPr/>
        </p:nvSpPr>
        <p:spPr>
          <a:xfrm>
            <a:off x="457200" y="1188720"/>
            <a:ext cx="5852160" cy="5303520"/>
          </a:xfrm>
          <a:prstGeom prst="roundRect">
            <a:avLst/>
          </a:prstGeom>
          <a:solidFill>
            <a:srgbClr val="F7FAFC"/>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ales_forecasting_top_1786950054016.png"/>
          <p:cNvPicPr>
            <a:picLocks noChangeAspect="1"/>
          </p:cNvPicPr>
          <p:nvPr/>
        </p:nvPicPr>
        <p:blipFill>
          <a:blip r:embed="rId2"/>
          <a:stretch>
            <a:fillRect/>
          </a:stretch>
        </p:blipFill>
        <p:spPr>
          <a:xfrm>
            <a:off x="548640" y="1280160"/>
            <a:ext cx="5669280" cy="4572000"/>
          </a:xfrm>
          <a:prstGeom prst="rect">
            <a:avLst/>
          </a:prstGeom>
        </p:spPr>
      </p:pic>
      <p:sp>
        <p:nvSpPr>
          <p:cNvPr id="5" name="TextBox 4"/>
          <p:cNvSpPr txBox="1"/>
          <p:nvPr/>
        </p:nvSpPr>
        <p:spPr>
          <a:xfrm>
            <a:off x="548640" y="5897880"/>
            <a:ext cx="5669280" cy="548640"/>
          </a:xfrm>
          <a:prstGeom prst="rect">
            <a:avLst/>
          </a:prstGeom>
          <a:noFill/>
        </p:spPr>
        <p:txBody>
          <a:bodyPr wrap="none">
            <a:spAutoFit/>
          </a:bodyPr>
          <a:lstStyle/>
          <a:p>
            <a:pPr>
              <a:defRPr sz="1000" b="1">
                <a:solidFill>
                  <a:srgbClr val="1A365D"/>
                </a:solidFill>
              </a:defRPr>
            </a:pPr>
            <a:r>
              <a:t>📸 Live Streamlit Demo Screen: Multi-Horizon Forecast Controls &amp; Model Parameters</a:t>
            </a:r>
          </a:p>
        </p:txBody>
      </p:sp>
      <p:sp>
        <p:nvSpPr>
          <p:cNvPr id="6" name="Rounded Rectangle 5"/>
          <p:cNvSpPr/>
          <p:nvPr/>
        </p:nvSpPr>
        <p:spPr>
          <a:xfrm>
            <a:off x="6492240" y="1188720"/>
            <a:ext cx="521208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74320" tIns="182880" rIns="274320"/>
          <a:lstStyle/>
          <a:p>
            <a:pPr algn="ctr">
              <a:defRPr sz="1200" b="1">
                <a:solidFill>
                  <a:srgbClr val="1A365D"/>
                </a:solidFill>
              </a:defRPr>
            </a:pPr>
            <a:r>
              <a:t>📌 KEY PRESENTATION POINTS</a:t>
            </a:r>
          </a:p>
          <a:p>
            <a:pPr>
              <a:defRPr sz="1050">
                <a:solidFill>
                  <a:srgbClr val="2D3748"/>
                </a:solidFill>
              </a:defRPr>
            </a:pPr>
            <a:r>
              <a:t>•  Identifying fast-moving vs. slow-moving inventory</a:t>
            </a:r>
          </a:p>
          <a:p>
            <a:pPr>
              <a:defRPr sz="1050">
                <a:solidFill>
                  <a:srgbClr val="2D3748"/>
                </a:solidFill>
              </a:defRPr>
            </a:pPr>
            <a:r>
              <a:t>•  Real-time stockout risk alerts</a:t>
            </a:r>
          </a:p>
          <a:p>
            <a:pPr>
              <a:defRPr sz="1050">
                <a:solidFill>
                  <a:srgbClr val="2D3748"/>
                </a:solidFill>
              </a:defRPr>
            </a:pPr>
            <a:r>
              <a:t>•  Gross profit margin monitoring by product category</a:t>
            </a:r>
          </a:p>
          <a:p/>
          <a:p>
            <a:pPr>
              <a:defRPr sz="1200" b="1">
                <a:solidFill>
                  <a:srgbClr val="2B6CB0"/>
                </a:solidFill>
              </a:defRPr>
            </a:pPr>
            <a:r>
              <a:t>🗣️ SPOKEN SCRIPT (NON-TECHNICAL)</a:t>
            </a:r>
          </a:p>
          <a:p>
            <a:pPr>
              <a:defRPr sz="1000" i="1">
                <a:solidFill>
                  <a:srgbClr val="2C5282"/>
                </a:solidFill>
              </a:defRPr>
            </a:pPr>
            <a:r>
              <a:t>"Finally, we connect customer demand to inventory health. High sales mean nothing if profit margins are eroded by excess warehousing costs or stockouts. Stratify AI continuously monitors stock levels and profit margins across all categories, flagging products that need reordering. Let's hand over to Person 4 to see how all these insights are presented live on our executive dashboard."</a:t>
            </a:r>
          </a:p>
          <a:p/>
          <a:p>
            <a:pPr>
              <a:defRPr sz="1000" b="1">
                <a:solidFill>
                  <a:srgbClr val="319795"/>
                </a:solidFill>
              </a:defRPr>
            </a:pPr>
            <a:r>
              <a:t>💡 TAKEAWAY: Inventory intelligence balances stock availability with maximum gross profit margin.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defRPr sz="1100" b="1">
                <a:solidFill>
                  <a:srgbClr val="319795"/>
                </a:solidFill>
              </a:defRPr>
            </a:pPr>
            <a:r>
              <a:t>PART: INTERACTIVE EXECUTIVE CONTROL CENTER &amp; LIVE STORE MONITOR</a:t>
            </a:r>
          </a:p>
          <a:p>
            <a:pPr>
              <a:defRPr sz="2200" b="1">
                <a:solidFill>
                  <a:srgbClr val="FFFFFF"/>
                </a:solidFill>
              </a:defRPr>
            </a:pPr>
            <a:r>
              <a:t>Person 4 — The Executive Command Dashboard</a:t>
            </a:r>
          </a:p>
        </p:txBody>
      </p:sp>
      <p:sp>
        <p:nvSpPr>
          <p:cNvPr id="3" name="Rounded Rectangle 2"/>
          <p:cNvSpPr/>
          <p:nvPr/>
        </p:nvSpPr>
        <p:spPr>
          <a:xfrm>
            <a:off x="457200" y="1188720"/>
            <a:ext cx="5852160" cy="5303520"/>
          </a:xfrm>
          <a:prstGeom prst="roundRect">
            <a:avLst/>
          </a:prstGeom>
          <a:solidFill>
            <a:srgbClr val="F7FAFC"/>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xec_control_mid_1786949688444.png"/>
          <p:cNvPicPr>
            <a:picLocks noChangeAspect="1"/>
          </p:cNvPicPr>
          <p:nvPr/>
        </p:nvPicPr>
        <p:blipFill>
          <a:blip r:embed="rId2"/>
          <a:stretch>
            <a:fillRect/>
          </a:stretch>
        </p:blipFill>
        <p:spPr>
          <a:xfrm>
            <a:off x="548640" y="1280160"/>
            <a:ext cx="5669280" cy="4572000"/>
          </a:xfrm>
          <a:prstGeom prst="rect">
            <a:avLst/>
          </a:prstGeom>
        </p:spPr>
      </p:pic>
      <p:sp>
        <p:nvSpPr>
          <p:cNvPr id="5" name="TextBox 4"/>
          <p:cNvSpPr txBox="1"/>
          <p:nvPr/>
        </p:nvSpPr>
        <p:spPr>
          <a:xfrm>
            <a:off x="548640" y="5897880"/>
            <a:ext cx="5669280" cy="548640"/>
          </a:xfrm>
          <a:prstGeom prst="rect">
            <a:avLst/>
          </a:prstGeom>
          <a:noFill/>
        </p:spPr>
        <p:txBody>
          <a:bodyPr wrap="none">
            <a:spAutoFit/>
          </a:bodyPr>
          <a:lstStyle/>
          <a:p>
            <a:pPr>
              <a:defRPr sz="1000" b="1">
                <a:solidFill>
                  <a:srgbClr val="1A365D"/>
                </a:solidFill>
              </a:defRPr>
            </a:pPr>
            <a:r>
              <a:t>📸 Live Streamlit Demo Screen: Streamlit Live Application Main View with 9 Navigation Hubs</a:t>
            </a:r>
          </a:p>
        </p:txBody>
      </p:sp>
      <p:sp>
        <p:nvSpPr>
          <p:cNvPr id="6" name="Rounded Rectangle 5"/>
          <p:cNvSpPr/>
          <p:nvPr/>
        </p:nvSpPr>
        <p:spPr>
          <a:xfrm>
            <a:off x="6492240" y="1188720"/>
            <a:ext cx="521208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74320" tIns="182880" rIns="274320"/>
          <a:lstStyle/>
          <a:p>
            <a:pPr algn="ctr">
              <a:defRPr sz="1200" b="1">
                <a:solidFill>
                  <a:srgbClr val="1A365D"/>
                </a:solidFill>
              </a:defRPr>
            </a:pPr>
            <a:r>
              <a:t>📌 KEY PRESENTATION POINTS</a:t>
            </a:r>
          </a:p>
          <a:p>
            <a:pPr>
              <a:defRPr sz="1050">
                <a:solidFill>
                  <a:srgbClr val="2D3748"/>
                </a:solidFill>
              </a:defRPr>
            </a:pPr>
            <a:r>
              <a:t>•  Unified single-screen web portal</a:t>
            </a:r>
          </a:p>
          <a:p>
            <a:pPr>
              <a:defRPr sz="1050">
                <a:solidFill>
                  <a:srgbClr val="2D3748"/>
                </a:solidFill>
              </a:defRPr>
            </a:pPr>
            <a:r>
              <a:t>•  Designed for executives, branch managers, and business analysts</a:t>
            </a:r>
          </a:p>
          <a:p>
            <a:pPr>
              <a:defRPr sz="1050">
                <a:solidFill>
                  <a:srgbClr val="2D3748"/>
                </a:solidFill>
              </a:defRPr>
            </a:pPr>
            <a:r>
              <a:t>•  Zero technical training required—click and explore</a:t>
            </a:r>
          </a:p>
          <a:p/>
          <a:p>
            <a:pPr>
              <a:defRPr sz="1200" b="1">
                <a:solidFill>
                  <a:srgbClr val="2B6CB0"/>
                </a:solidFill>
              </a:defRPr>
            </a:pPr>
            <a:r>
              <a:t>🗣️ SPOKEN SCRIPT (NON-TECHNICAL)</a:t>
            </a:r>
          </a:p>
          <a:p>
            <a:pPr>
              <a:defRPr sz="1000" i="1">
                <a:solidFill>
                  <a:srgbClr val="2C5282"/>
                </a:solidFill>
              </a:defRPr>
            </a:pPr>
            <a:r>
              <a:t>"Thanks Person 3. All the data pipelines and smart models come together here in our Executive Control Center. Built with a clean, intuitive layout, the dashboard allows leadership to navigate across 9 specialized business hubs. Whether an executive wants to check top-level monthly revenue or dive into store-specific inventory, everything is accessible in a single click."</a:t>
            </a:r>
          </a:p>
          <a:p/>
          <a:p>
            <a:pPr>
              <a:defRPr sz="1000" b="1">
                <a:solidFill>
                  <a:srgbClr val="319795"/>
                </a:solidFill>
              </a:defRPr>
            </a:pPr>
            <a:r>
              <a:t>💡 TAKEAWAY: The executive control portal simplifies complex enterprise metrics into clean visual navigation.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defRPr sz="1100" b="1">
                <a:solidFill>
                  <a:srgbClr val="319795"/>
                </a:solidFill>
              </a:defRPr>
            </a:pPr>
            <a:r>
              <a:t>PART: INTERACTIVE EXECUTIVE CONTROL CENTER &amp; LIVE STORE MONITOR</a:t>
            </a:r>
          </a:p>
          <a:p>
            <a:pPr>
              <a:defRPr sz="2200" b="1">
                <a:solidFill>
                  <a:srgbClr val="FFFFFF"/>
                </a:solidFill>
              </a:defRPr>
            </a:pPr>
            <a:r>
              <a:t>Person 4 — Live Transaction Feed &amp; Store Ticker</a:t>
            </a:r>
          </a:p>
        </p:txBody>
      </p:sp>
      <p:sp>
        <p:nvSpPr>
          <p:cNvPr id="3" name="Rounded Rectangle 2"/>
          <p:cNvSpPr/>
          <p:nvPr/>
        </p:nvSpPr>
        <p:spPr>
          <a:xfrm>
            <a:off x="457200" y="1188720"/>
            <a:ext cx="5852160" cy="5303520"/>
          </a:xfrm>
          <a:prstGeom prst="roundRect">
            <a:avLst/>
          </a:prstGeom>
          <a:solidFill>
            <a:srgbClr val="F7FAFC"/>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xec_control_bottom_1786949746057.png"/>
          <p:cNvPicPr>
            <a:picLocks noChangeAspect="1"/>
          </p:cNvPicPr>
          <p:nvPr/>
        </p:nvPicPr>
        <p:blipFill>
          <a:blip r:embed="rId2"/>
          <a:stretch>
            <a:fillRect/>
          </a:stretch>
        </p:blipFill>
        <p:spPr>
          <a:xfrm>
            <a:off x="548640" y="1280160"/>
            <a:ext cx="5669280" cy="4572000"/>
          </a:xfrm>
          <a:prstGeom prst="rect">
            <a:avLst/>
          </a:prstGeom>
        </p:spPr>
      </p:pic>
      <p:sp>
        <p:nvSpPr>
          <p:cNvPr id="5" name="TextBox 4"/>
          <p:cNvSpPr txBox="1"/>
          <p:nvPr/>
        </p:nvSpPr>
        <p:spPr>
          <a:xfrm>
            <a:off x="548640" y="5897880"/>
            <a:ext cx="5669280" cy="548640"/>
          </a:xfrm>
          <a:prstGeom prst="rect">
            <a:avLst/>
          </a:prstGeom>
          <a:noFill/>
        </p:spPr>
        <p:txBody>
          <a:bodyPr wrap="none">
            <a:spAutoFit/>
          </a:bodyPr>
          <a:lstStyle/>
          <a:p>
            <a:pPr>
              <a:defRPr sz="1000" b="1">
                <a:solidFill>
                  <a:srgbClr val="1A365D"/>
                </a:solidFill>
              </a:defRPr>
            </a:pPr>
            <a:r>
              <a:t>📸 Live Streamlit Demo Screen: Live Transaction Stream Table from Live Web Application</a:t>
            </a:r>
          </a:p>
        </p:txBody>
      </p:sp>
      <p:sp>
        <p:nvSpPr>
          <p:cNvPr id="6" name="Rounded Rectangle 5"/>
          <p:cNvSpPr/>
          <p:nvPr/>
        </p:nvSpPr>
        <p:spPr>
          <a:xfrm>
            <a:off x="6492240" y="1188720"/>
            <a:ext cx="521208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74320" tIns="182880" rIns="274320"/>
          <a:lstStyle/>
          <a:p>
            <a:pPr algn="ctr">
              <a:defRPr sz="1200" b="1">
                <a:solidFill>
                  <a:srgbClr val="1A365D"/>
                </a:solidFill>
              </a:defRPr>
            </a:pPr>
            <a:r>
              <a:t>📌 KEY PRESENTATION POINTS</a:t>
            </a:r>
          </a:p>
          <a:p>
            <a:pPr>
              <a:defRPr sz="1050">
                <a:solidFill>
                  <a:srgbClr val="2D3748"/>
                </a:solidFill>
              </a:defRPr>
            </a:pPr>
            <a:r>
              <a:t>•  Sub-second automatic dashboard refresh</a:t>
            </a:r>
          </a:p>
          <a:p>
            <a:pPr>
              <a:defRPr sz="1050">
                <a:solidFill>
                  <a:srgbClr val="2D3748"/>
                </a:solidFill>
              </a:defRPr>
            </a:pPr>
            <a:r>
              <a:t>•  Live tracking of sales value, store location, and item count</a:t>
            </a:r>
          </a:p>
          <a:p>
            <a:pPr>
              <a:defRPr sz="1050">
                <a:solidFill>
                  <a:srgbClr val="2D3748"/>
                </a:solidFill>
              </a:defRPr>
            </a:pPr>
            <a:r>
              <a:t>•  Instant feedback during marketing events and peak shopping hours</a:t>
            </a:r>
          </a:p>
          <a:p/>
          <a:p>
            <a:pPr>
              <a:defRPr sz="1200" b="1">
                <a:solidFill>
                  <a:srgbClr val="2B6CB0"/>
                </a:solidFill>
              </a:defRPr>
            </a:pPr>
            <a:r>
              <a:t>🗣️ SPOKEN SCRIPT (NON-TECHNICAL)</a:t>
            </a:r>
          </a:p>
          <a:p>
            <a:pPr>
              <a:defRPr sz="1000" i="1">
                <a:solidFill>
                  <a:srgbClr val="2C5282"/>
                </a:solidFill>
              </a:defRPr>
            </a:pPr>
            <a:r>
              <a:t>"One of our standout features is the Live Transaction Feed shown here from our live web application. In traditional systems, you wait until tomorrow to see today's sales. Here, transactions scroll across the screen in real time as items are scanned at store checkouts. During Black Friday or special sales promotions, executives can monitor sales velocity live."</a:t>
            </a:r>
          </a:p>
          <a:p/>
          <a:p>
            <a:pPr>
              <a:defRPr sz="1000" b="1">
                <a:solidFill>
                  <a:srgbClr val="319795"/>
                </a:solidFill>
              </a:defRPr>
            </a:pPr>
            <a:r>
              <a:t>💡 TAKEAWAY: Live store streaming gives executives instant visibility into customer buying activity.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defRPr sz="1100" b="1">
                <a:solidFill>
                  <a:srgbClr val="319795"/>
                </a:solidFill>
              </a:defRPr>
            </a:pPr>
            <a:r>
              <a:t>PART: INTERACTIVE EXECUTIVE CONTROL CENTER &amp; LIVE STORE MONITOR</a:t>
            </a:r>
          </a:p>
          <a:p>
            <a:pPr>
              <a:defRPr sz="2200" b="1">
                <a:solidFill>
                  <a:srgbClr val="FFFFFF"/>
                </a:solidFill>
              </a:defRPr>
            </a:pPr>
            <a:r>
              <a:t>Person 4 — Color-Coded Business Health Scores</a:t>
            </a:r>
          </a:p>
        </p:txBody>
      </p:sp>
      <p:sp>
        <p:nvSpPr>
          <p:cNvPr id="3" name="Rounded Rectangle 2"/>
          <p:cNvSpPr/>
          <p:nvPr/>
        </p:nvSpPr>
        <p:spPr>
          <a:xfrm>
            <a:off x="457200" y="1188720"/>
            <a:ext cx="5852160" cy="5303520"/>
          </a:xfrm>
          <a:prstGeom prst="roundRect">
            <a:avLst/>
          </a:prstGeom>
          <a:solidFill>
            <a:srgbClr val="F7FAFC"/>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xec_control_chart2_1786949724875.png"/>
          <p:cNvPicPr>
            <a:picLocks noChangeAspect="1"/>
          </p:cNvPicPr>
          <p:nvPr/>
        </p:nvPicPr>
        <p:blipFill>
          <a:blip r:embed="rId2"/>
          <a:stretch>
            <a:fillRect/>
          </a:stretch>
        </p:blipFill>
        <p:spPr>
          <a:xfrm>
            <a:off x="548640" y="1280160"/>
            <a:ext cx="5669280" cy="4572000"/>
          </a:xfrm>
          <a:prstGeom prst="rect">
            <a:avLst/>
          </a:prstGeom>
        </p:spPr>
      </p:pic>
      <p:sp>
        <p:nvSpPr>
          <p:cNvPr id="5" name="TextBox 4"/>
          <p:cNvSpPr txBox="1"/>
          <p:nvPr/>
        </p:nvSpPr>
        <p:spPr>
          <a:xfrm>
            <a:off x="548640" y="5897880"/>
            <a:ext cx="5669280" cy="548640"/>
          </a:xfrm>
          <a:prstGeom prst="rect">
            <a:avLst/>
          </a:prstGeom>
          <a:noFill/>
        </p:spPr>
        <p:txBody>
          <a:bodyPr wrap="none">
            <a:spAutoFit/>
          </a:bodyPr>
          <a:lstStyle/>
          <a:p>
            <a:pPr>
              <a:defRPr sz="1000" b="1">
                <a:solidFill>
                  <a:srgbClr val="1A365D"/>
                </a:solidFill>
              </a:defRPr>
            </a:pPr>
            <a:r>
              <a:t>📸 Live Streamlit Demo Screen: Visual Category Profit &amp; Sales Performance Matrix</a:t>
            </a:r>
          </a:p>
        </p:txBody>
      </p:sp>
      <p:sp>
        <p:nvSpPr>
          <p:cNvPr id="6" name="Rounded Rectangle 5"/>
          <p:cNvSpPr/>
          <p:nvPr/>
        </p:nvSpPr>
        <p:spPr>
          <a:xfrm>
            <a:off x="6492240" y="1188720"/>
            <a:ext cx="521208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74320" tIns="182880" rIns="274320"/>
          <a:lstStyle/>
          <a:p>
            <a:pPr algn="ctr">
              <a:defRPr sz="1200" b="1">
                <a:solidFill>
                  <a:srgbClr val="1A365D"/>
                </a:solidFill>
              </a:defRPr>
            </a:pPr>
            <a:r>
              <a:t>📌 KEY PRESENTATION POINTS</a:t>
            </a:r>
          </a:p>
          <a:p>
            <a:pPr>
              <a:defRPr sz="1050">
                <a:solidFill>
                  <a:srgbClr val="2D3748"/>
                </a:solidFill>
              </a:defRPr>
            </a:pPr>
            <a:r>
              <a:t>•  Green/Yellow/Red visual indicators for instantaneous status assessment</a:t>
            </a:r>
          </a:p>
          <a:p>
            <a:pPr>
              <a:defRPr sz="1050">
                <a:solidFill>
                  <a:srgbClr val="2D3748"/>
                </a:solidFill>
              </a:defRPr>
            </a:pPr>
            <a:r>
              <a:t>•  Instant drill-down into underperforming metrics</a:t>
            </a:r>
          </a:p>
          <a:p>
            <a:pPr>
              <a:defRPr sz="1050">
                <a:solidFill>
                  <a:srgbClr val="2D3748"/>
                </a:solidFill>
              </a:defRPr>
            </a:pPr>
            <a:r>
              <a:t>•  Interactive Plotly charts for custom filtering by store or region</a:t>
            </a:r>
          </a:p>
          <a:p/>
          <a:p>
            <a:pPr>
              <a:defRPr sz="1200" b="1">
                <a:solidFill>
                  <a:srgbClr val="2B6CB0"/>
                </a:solidFill>
              </a:defRPr>
            </a:pPr>
            <a:r>
              <a:t>🗣️ SPOKEN SCRIPT (NON-TECHNICAL)</a:t>
            </a:r>
          </a:p>
          <a:p>
            <a:pPr>
              <a:defRPr sz="1000" i="1">
                <a:solidFill>
                  <a:srgbClr val="2C5282"/>
                </a:solidFill>
              </a:defRPr>
            </a:pPr>
            <a:r>
              <a:t>"Executives don't have time to wade through endless raw spreadsheets. That's why we built visual Health Score Cards. In five seconds, a manager can see that overall revenue health is Green at 94%, while inventory levels are Yellow at 78%, signaling that reorders are needed. To see how AI turns these charts into strategic advice, let's pass to Person 5."</a:t>
            </a:r>
          </a:p>
          <a:p/>
          <a:p>
            <a:pPr>
              <a:defRPr sz="1000" b="1">
                <a:solidFill>
                  <a:srgbClr val="319795"/>
                </a:solidFill>
              </a:defRPr>
            </a:pPr>
            <a:r>
              <a:t>💡 TAKEAWAY: Color-coded health scoring lets executives spot and address operational risks instantly.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defRPr sz="1100" b="1">
                <a:solidFill>
                  <a:srgbClr val="319795"/>
                </a:solidFill>
              </a:defRPr>
            </a:pPr>
            <a:r>
              <a:t>PART: AI STRATEGY ADVISOR &amp; PLAIN ENGLISH BUSINESS Q&amp;A</a:t>
            </a:r>
          </a:p>
          <a:p>
            <a:pPr>
              <a:defRPr sz="2200" b="1">
                <a:solidFill>
                  <a:srgbClr val="FFFFFF"/>
                </a:solidFill>
              </a:defRPr>
            </a:pPr>
            <a:r>
              <a:t>Person 5 — Your Digital Chief Data Officer</a:t>
            </a:r>
          </a:p>
        </p:txBody>
      </p:sp>
      <p:sp>
        <p:nvSpPr>
          <p:cNvPr id="3" name="Rounded Rectangle 2"/>
          <p:cNvSpPr/>
          <p:nvPr/>
        </p:nvSpPr>
        <p:spPr>
          <a:xfrm>
            <a:off x="457200" y="1188720"/>
            <a:ext cx="5852160" cy="5303520"/>
          </a:xfrm>
          <a:prstGeom prst="roundRect">
            <a:avLst/>
          </a:prstGeom>
          <a:solidFill>
            <a:srgbClr val="F7FAFC"/>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i_insights_top_1786950197991.png"/>
          <p:cNvPicPr>
            <a:picLocks noChangeAspect="1"/>
          </p:cNvPicPr>
          <p:nvPr/>
        </p:nvPicPr>
        <p:blipFill>
          <a:blip r:embed="rId2"/>
          <a:stretch>
            <a:fillRect/>
          </a:stretch>
        </p:blipFill>
        <p:spPr>
          <a:xfrm>
            <a:off x="548640" y="1280160"/>
            <a:ext cx="5669280" cy="4572000"/>
          </a:xfrm>
          <a:prstGeom prst="rect">
            <a:avLst/>
          </a:prstGeom>
        </p:spPr>
      </p:pic>
      <p:sp>
        <p:nvSpPr>
          <p:cNvPr id="5" name="TextBox 4"/>
          <p:cNvSpPr txBox="1"/>
          <p:nvPr/>
        </p:nvSpPr>
        <p:spPr>
          <a:xfrm>
            <a:off x="548640" y="5897880"/>
            <a:ext cx="5669280" cy="548640"/>
          </a:xfrm>
          <a:prstGeom prst="rect">
            <a:avLst/>
          </a:prstGeom>
          <a:noFill/>
        </p:spPr>
        <p:txBody>
          <a:bodyPr wrap="none">
            <a:spAutoFit/>
          </a:bodyPr>
          <a:lstStyle/>
          <a:p>
            <a:pPr>
              <a:defRPr sz="1000" b="1">
                <a:solidFill>
                  <a:srgbClr val="1A365D"/>
                </a:solidFill>
              </a:defRPr>
            </a:pPr>
            <a:r>
              <a:t>📸 Live Streamlit Demo Screen: AI Agentic Business Analyst Interface (DeepSeek-V3)</a:t>
            </a:r>
          </a:p>
        </p:txBody>
      </p:sp>
      <p:sp>
        <p:nvSpPr>
          <p:cNvPr id="6" name="Rounded Rectangle 5"/>
          <p:cNvSpPr/>
          <p:nvPr/>
        </p:nvSpPr>
        <p:spPr>
          <a:xfrm>
            <a:off x="6492240" y="1188720"/>
            <a:ext cx="521208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74320" tIns="182880" rIns="274320"/>
          <a:lstStyle/>
          <a:p>
            <a:pPr algn="ctr">
              <a:defRPr sz="1200" b="1">
                <a:solidFill>
                  <a:srgbClr val="1A365D"/>
                </a:solidFill>
              </a:defRPr>
            </a:pPr>
            <a:r>
              <a:t>📌 KEY PRESENTATION POINTS</a:t>
            </a:r>
          </a:p>
          <a:p>
            <a:pPr>
              <a:defRPr sz="1050">
                <a:solidFill>
                  <a:srgbClr val="2D3748"/>
                </a:solidFill>
              </a:defRPr>
            </a:pPr>
            <a:r>
              <a:t>•  24/7 automated business analysis</a:t>
            </a:r>
          </a:p>
          <a:p>
            <a:pPr>
              <a:defRPr sz="1050">
                <a:solidFill>
                  <a:srgbClr val="2D3748"/>
                </a:solidFill>
              </a:defRPr>
            </a:pPr>
            <a:r>
              <a:t>•  Synthesizing millions of data points into 3 key executive bullet points</a:t>
            </a:r>
          </a:p>
          <a:p>
            <a:pPr>
              <a:defRPr sz="1050">
                <a:solidFill>
                  <a:srgbClr val="2D3748"/>
                </a:solidFill>
              </a:defRPr>
            </a:pPr>
            <a:r>
              <a:t>•  Explaining the 'Why' behind revenue trends</a:t>
            </a:r>
          </a:p>
          <a:p/>
          <a:p>
            <a:pPr>
              <a:defRPr sz="1200" b="1">
                <a:solidFill>
                  <a:srgbClr val="2B6CB0"/>
                </a:solidFill>
              </a:defRPr>
            </a:pPr>
            <a:r>
              <a:t>🗣️ SPOKEN SCRIPT (NON-TECHNICAL)</a:t>
            </a:r>
          </a:p>
          <a:p>
            <a:pPr>
              <a:defRPr sz="1000" i="1">
                <a:solidFill>
                  <a:srgbClr val="2C5282"/>
                </a:solidFill>
              </a:defRPr>
            </a:pPr>
            <a:r>
              <a:t>"Thank you Person 4. Data dashboards are great for showing numbers, but executives need context: Why are sales up? Why are customers churning in Store 4? Stratify AI embeds a Digital Chief Data Officer powered by DeepSeek-V3. As seen on screen, the AI automatically scans the day's sales metrics and writes an executive synthesis highlighting key wins and risk factors."</a:t>
            </a:r>
          </a:p>
          <a:p/>
          <a:p>
            <a:pPr>
              <a:defRPr sz="1000" b="1">
                <a:solidFill>
                  <a:srgbClr val="319795"/>
                </a:solidFill>
              </a:defRPr>
            </a:pPr>
            <a:r>
              <a:t>💡 TAKEAWAY: AI strategy synthesis translates raw numbers into clear business stories.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defRPr sz="1100" b="1">
                <a:solidFill>
                  <a:srgbClr val="319795"/>
                </a:solidFill>
              </a:defRPr>
            </a:pPr>
            <a:r>
              <a:t>PART: AI STRATEGY ADVISOR &amp; PLAIN ENGLISH BUSINESS Q&amp;A</a:t>
            </a:r>
          </a:p>
          <a:p>
            <a:pPr>
              <a:defRPr sz="2200" b="1">
                <a:solidFill>
                  <a:srgbClr val="FFFFFF"/>
                </a:solidFill>
              </a:defRPr>
            </a:pPr>
            <a:r>
              <a:t>Person 5 — Plain English Business Q&amp;A</a:t>
            </a:r>
          </a:p>
        </p:txBody>
      </p:sp>
      <p:sp>
        <p:nvSpPr>
          <p:cNvPr id="3" name="Rounded Rectangle 2"/>
          <p:cNvSpPr/>
          <p:nvPr/>
        </p:nvSpPr>
        <p:spPr>
          <a:xfrm>
            <a:off x="457200" y="1188720"/>
            <a:ext cx="5852160" cy="5303520"/>
          </a:xfrm>
          <a:prstGeom prst="roundRect">
            <a:avLst/>
          </a:prstGeom>
          <a:solidFill>
            <a:srgbClr val="F7FAFC"/>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i_insights_mid1_1786950241833.png"/>
          <p:cNvPicPr>
            <a:picLocks noChangeAspect="1"/>
          </p:cNvPicPr>
          <p:nvPr/>
        </p:nvPicPr>
        <p:blipFill>
          <a:blip r:embed="rId2"/>
          <a:stretch>
            <a:fillRect/>
          </a:stretch>
        </p:blipFill>
        <p:spPr>
          <a:xfrm>
            <a:off x="548640" y="1280160"/>
            <a:ext cx="5669280" cy="4572000"/>
          </a:xfrm>
          <a:prstGeom prst="rect">
            <a:avLst/>
          </a:prstGeom>
        </p:spPr>
      </p:pic>
      <p:sp>
        <p:nvSpPr>
          <p:cNvPr id="5" name="TextBox 4"/>
          <p:cNvSpPr txBox="1"/>
          <p:nvPr/>
        </p:nvSpPr>
        <p:spPr>
          <a:xfrm>
            <a:off x="548640" y="5897880"/>
            <a:ext cx="5669280" cy="548640"/>
          </a:xfrm>
          <a:prstGeom prst="rect">
            <a:avLst/>
          </a:prstGeom>
          <a:noFill/>
        </p:spPr>
        <p:txBody>
          <a:bodyPr wrap="none">
            <a:spAutoFit/>
          </a:bodyPr>
          <a:lstStyle/>
          <a:p>
            <a:pPr>
              <a:defRPr sz="1000" b="1">
                <a:solidFill>
                  <a:srgbClr val="1A365D"/>
                </a:solidFill>
              </a:defRPr>
            </a:pPr>
            <a:r>
              <a:t>📸 Live Streamlit Demo Screen: DeepSeek CDO Executive Strategy Synthesis &amp; Suggested Prompts</a:t>
            </a:r>
          </a:p>
        </p:txBody>
      </p:sp>
      <p:sp>
        <p:nvSpPr>
          <p:cNvPr id="6" name="Rounded Rectangle 5"/>
          <p:cNvSpPr/>
          <p:nvPr/>
        </p:nvSpPr>
        <p:spPr>
          <a:xfrm>
            <a:off x="6492240" y="1188720"/>
            <a:ext cx="521208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74320" tIns="182880" rIns="274320"/>
          <a:lstStyle/>
          <a:p>
            <a:pPr algn="ctr">
              <a:defRPr sz="1200" b="1">
                <a:solidFill>
                  <a:srgbClr val="1A365D"/>
                </a:solidFill>
              </a:defRPr>
            </a:pPr>
            <a:r>
              <a:t>📌 KEY PRESENTATION POINTS</a:t>
            </a:r>
          </a:p>
          <a:p>
            <a:pPr>
              <a:defRPr sz="1050">
                <a:solidFill>
                  <a:srgbClr val="2D3748"/>
                </a:solidFill>
              </a:defRPr>
            </a:pPr>
            <a:r>
              <a:t>•  Natural language interface for non-technical executives</a:t>
            </a:r>
          </a:p>
          <a:p>
            <a:pPr>
              <a:defRPr sz="1050">
                <a:solidFill>
                  <a:srgbClr val="2D3748"/>
                </a:solidFill>
              </a:defRPr>
            </a:pPr>
            <a:r>
              <a:t>•  Ask questions about sales, inventory, or customer behavior</a:t>
            </a:r>
          </a:p>
          <a:p>
            <a:pPr>
              <a:defRPr sz="1050">
                <a:solidFill>
                  <a:srgbClr val="2D3748"/>
                </a:solidFill>
              </a:defRPr>
            </a:pPr>
            <a:r>
              <a:t>•  Instant, plain-English explanations backed by live data</a:t>
            </a:r>
          </a:p>
          <a:p/>
          <a:p>
            <a:pPr>
              <a:defRPr sz="1200" b="1">
                <a:solidFill>
                  <a:srgbClr val="2B6CB0"/>
                </a:solidFill>
              </a:defRPr>
            </a:pPr>
            <a:r>
              <a:t>🗣️ SPOKEN SCRIPT (NON-TECHNICAL)</a:t>
            </a:r>
          </a:p>
          <a:p>
            <a:pPr>
              <a:defRPr sz="1000" i="1">
                <a:solidFill>
                  <a:srgbClr val="2C5282"/>
                </a:solidFill>
              </a:defRPr>
            </a:pPr>
            <a:r>
              <a:t>"Imagine being an executive in a board meeting and needing an instant answer about store performance. Instead of submitting a request to IT and waiting 48 hours, you simply type your question into Stratify AI in plain English—for example: 'What were our top 3 revenue drivers this week?' The AI queries the database instantly and returns a clear, executive-ready explanation."</a:t>
            </a:r>
          </a:p>
          <a:p/>
          <a:p>
            <a:pPr>
              <a:defRPr sz="1000" b="1">
                <a:solidFill>
                  <a:srgbClr val="319795"/>
                </a:solidFill>
              </a:defRPr>
            </a:pPr>
            <a:r>
              <a:t>💡 TAKEAWAY: Natural language Q&amp;A empowers leadership to get instant answers without technical hurdles.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defRPr sz="1100" b="1">
                <a:solidFill>
                  <a:srgbClr val="319795"/>
                </a:solidFill>
              </a:defRPr>
            </a:pPr>
            <a:r>
              <a:t>PART: AI STRATEGY ADVISOR &amp; PLAIN ENGLISH BUSINESS Q&amp;A</a:t>
            </a:r>
          </a:p>
          <a:p>
            <a:pPr>
              <a:defRPr sz="2200" b="1">
                <a:solidFill>
                  <a:srgbClr val="FFFFFF"/>
                </a:solidFill>
              </a:defRPr>
            </a:pPr>
            <a:r>
              <a:t>Person 5 — Prescriptive Business Recommendations</a:t>
            </a:r>
          </a:p>
        </p:txBody>
      </p:sp>
      <p:sp>
        <p:nvSpPr>
          <p:cNvPr id="3" name="Rounded Rectangle 2"/>
          <p:cNvSpPr/>
          <p:nvPr/>
        </p:nvSpPr>
        <p:spPr>
          <a:xfrm>
            <a:off x="457200" y="1188720"/>
            <a:ext cx="5852160" cy="5303520"/>
          </a:xfrm>
          <a:prstGeom prst="roundRect">
            <a:avLst/>
          </a:prstGeom>
          <a:solidFill>
            <a:srgbClr val="F7FAFC"/>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i_insights_top_1786950197991.png"/>
          <p:cNvPicPr>
            <a:picLocks noChangeAspect="1"/>
          </p:cNvPicPr>
          <p:nvPr/>
        </p:nvPicPr>
        <p:blipFill>
          <a:blip r:embed="rId2"/>
          <a:stretch>
            <a:fillRect/>
          </a:stretch>
        </p:blipFill>
        <p:spPr>
          <a:xfrm>
            <a:off x="548640" y="1280160"/>
            <a:ext cx="5669280" cy="4572000"/>
          </a:xfrm>
          <a:prstGeom prst="rect">
            <a:avLst/>
          </a:prstGeom>
        </p:spPr>
      </p:pic>
      <p:sp>
        <p:nvSpPr>
          <p:cNvPr id="5" name="TextBox 4"/>
          <p:cNvSpPr txBox="1"/>
          <p:nvPr/>
        </p:nvSpPr>
        <p:spPr>
          <a:xfrm>
            <a:off x="548640" y="5897880"/>
            <a:ext cx="5669280" cy="548640"/>
          </a:xfrm>
          <a:prstGeom prst="rect">
            <a:avLst/>
          </a:prstGeom>
          <a:noFill/>
        </p:spPr>
        <p:txBody>
          <a:bodyPr wrap="none">
            <a:spAutoFit/>
          </a:bodyPr>
          <a:lstStyle/>
          <a:p>
            <a:pPr>
              <a:defRPr sz="1000" b="1">
                <a:solidFill>
                  <a:srgbClr val="1A365D"/>
                </a:solidFill>
              </a:defRPr>
            </a:pPr>
            <a:r>
              <a:t>📸 Live Streamlit Demo Screen: AI Strategic Action Recommendation Cards</a:t>
            </a:r>
          </a:p>
        </p:txBody>
      </p:sp>
      <p:sp>
        <p:nvSpPr>
          <p:cNvPr id="6" name="Rounded Rectangle 5"/>
          <p:cNvSpPr/>
          <p:nvPr/>
        </p:nvSpPr>
        <p:spPr>
          <a:xfrm>
            <a:off x="6492240" y="1188720"/>
            <a:ext cx="521208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74320" tIns="182880" rIns="274320"/>
          <a:lstStyle/>
          <a:p>
            <a:pPr algn="ctr">
              <a:defRPr sz="1200" b="1">
                <a:solidFill>
                  <a:srgbClr val="1A365D"/>
                </a:solidFill>
              </a:defRPr>
            </a:pPr>
            <a:r>
              <a:t>📌 KEY PRESENTATION POINTS</a:t>
            </a:r>
          </a:p>
          <a:p>
            <a:pPr>
              <a:defRPr sz="1050">
                <a:solidFill>
                  <a:srgbClr val="2D3748"/>
                </a:solidFill>
              </a:defRPr>
            </a:pPr>
            <a:r>
              <a:t>•  Moving from reactive charts to prescriptive recommendations</a:t>
            </a:r>
          </a:p>
          <a:p>
            <a:pPr>
              <a:defRPr sz="1050">
                <a:solidFill>
                  <a:srgbClr val="2D3748"/>
                </a:solidFill>
              </a:defRPr>
            </a:pPr>
            <a:r>
              <a:t>•  Automated root-cause analysis for revenue dips</a:t>
            </a:r>
          </a:p>
          <a:p>
            <a:pPr>
              <a:defRPr sz="1050">
                <a:solidFill>
                  <a:srgbClr val="2D3748"/>
                </a:solidFill>
              </a:defRPr>
            </a:pPr>
            <a:r>
              <a:t>•  Clear step-by-step guidance to capture market growth</a:t>
            </a:r>
          </a:p>
          <a:p/>
          <a:p>
            <a:pPr>
              <a:defRPr sz="1200" b="1">
                <a:solidFill>
                  <a:srgbClr val="2B6CB0"/>
                </a:solidFill>
              </a:defRPr>
            </a:pPr>
            <a:r>
              <a:t>🗣️ SPOKEN SCRIPT (NON-TECHNICAL)</a:t>
            </a:r>
          </a:p>
          <a:p>
            <a:pPr>
              <a:defRPr sz="1000" i="1">
                <a:solidFill>
                  <a:srgbClr val="2C5282"/>
                </a:solidFill>
              </a:defRPr>
            </a:pPr>
            <a:r>
              <a:t>"The true power of AI lies in action. Stratify AI doesn't just inform you—it guides you. If customer churn rises in a specific segment, the AI flags the root cause and presents recommended steps, such as launching a targeted re-engagement campaign. Now, to see how these insights are packaged and emailed automatically, let's hand over to Person 6."</a:t>
            </a:r>
          </a:p>
          <a:p/>
          <a:p>
            <a:pPr>
              <a:defRPr sz="1000" b="1">
                <a:solidFill>
                  <a:srgbClr val="319795"/>
                </a:solidFill>
              </a:defRPr>
            </a:pPr>
            <a:r>
              <a:t>💡 TAKEAWAY: AI-driven recommendations convert insights directly into profitable business decisions.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defRPr sz="1100" b="1">
                <a:solidFill>
                  <a:srgbClr val="319795"/>
                </a:solidFill>
              </a:defRPr>
            </a:pPr>
            <a:r>
              <a:t>PART: AUTOMATED EXECUTIVE REPORTING &amp; TOTAL BUSINESS ROI</a:t>
            </a:r>
          </a:p>
          <a:p>
            <a:pPr>
              <a:defRPr sz="2200" b="1">
                <a:solidFill>
                  <a:srgbClr val="FFFFFF"/>
                </a:solidFill>
              </a:defRPr>
            </a:pPr>
            <a:r>
              <a:t>Person 6 — Automated Executive PDF Briefings</a:t>
            </a:r>
          </a:p>
        </p:txBody>
      </p:sp>
      <p:sp>
        <p:nvSpPr>
          <p:cNvPr id="3" name="Rounded Rectangle 2"/>
          <p:cNvSpPr/>
          <p:nvPr/>
        </p:nvSpPr>
        <p:spPr>
          <a:xfrm>
            <a:off x="457200" y="1188720"/>
            <a:ext cx="5852160" cy="5303520"/>
          </a:xfrm>
          <a:prstGeom prst="roundRect">
            <a:avLst/>
          </a:prstGeom>
          <a:solidFill>
            <a:srgbClr val="F7FAFC"/>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xecutive_reports_top_1786950755548.png"/>
          <p:cNvPicPr>
            <a:picLocks noChangeAspect="1"/>
          </p:cNvPicPr>
          <p:nvPr/>
        </p:nvPicPr>
        <p:blipFill>
          <a:blip r:embed="rId2"/>
          <a:stretch>
            <a:fillRect/>
          </a:stretch>
        </p:blipFill>
        <p:spPr>
          <a:xfrm>
            <a:off x="548640" y="1280160"/>
            <a:ext cx="5669280" cy="4572000"/>
          </a:xfrm>
          <a:prstGeom prst="rect">
            <a:avLst/>
          </a:prstGeom>
        </p:spPr>
      </p:pic>
      <p:sp>
        <p:nvSpPr>
          <p:cNvPr id="5" name="TextBox 4"/>
          <p:cNvSpPr txBox="1"/>
          <p:nvPr/>
        </p:nvSpPr>
        <p:spPr>
          <a:xfrm>
            <a:off x="548640" y="5897880"/>
            <a:ext cx="5669280" cy="548640"/>
          </a:xfrm>
          <a:prstGeom prst="rect">
            <a:avLst/>
          </a:prstGeom>
          <a:noFill/>
        </p:spPr>
        <p:txBody>
          <a:bodyPr wrap="none">
            <a:spAutoFit/>
          </a:bodyPr>
          <a:lstStyle/>
          <a:p>
            <a:pPr>
              <a:defRPr sz="1000" b="1">
                <a:solidFill>
                  <a:srgbClr val="1A365D"/>
                </a:solidFill>
              </a:defRPr>
            </a:pPr>
            <a:r>
              <a:t>📸 Live Streamlit Demo Screen: Executive Reports &amp; UiPath RPA Automation Dashboard</a:t>
            </a:r>
          </a:p>
        </p:txBody>
      </p:sp>
      <p:sp>
        <p:nvSpPr>
          <p:cNvPr id="6" name="Rounded Rectangle 5"/>
          <p:cNvSpPr/>
          <p:nvPr/>
        </p:nvSpPr>
        <p:spPr>
          <a:xfrm>
            <a:off x="6492240" y="1188720"/>
            <a:ext cx="521208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74320" tIns="182880" rIns="274320"/>
          <a:lstStyle/>
          <a:p>
            <a:pPr algn="ctr">
              <a:defRPr sz="1200" b="1">
                <a:solidFill>
                  <a:srgbClr val="1A365D"/>
                </a:solidFill>
              </a:defRPr>
            </a:pPr>
            <a:r>
              <a:t>📌 KEY PRESENTATION POINTS</a:t>
            </a:r>
          </a:p>
          <a:p>
            <a:pPr>
              <a:defRPr sz="1050">
                <a:solidFill>
                  <a:srgbClr val="2D3748"/>
                </a:solidFill>
              </a:defRPr>
            </a:pPr>
            <a:r>
              <a:t>•  Zero-touch PDF report generation</a:t>
            </a:r>
          </a:p>
          <a:p>
            <a:pPr>
              <a:defRPr sz="1050">
                <a:solidFill>
                  <a:srgbClr val="2D3748"/>
                </a:solidFill>
              </a:defRPr>
            </a:pPr>
            <a:r>
              <a:t>•  Publication-quality formatting with tables, charts, and executive summaries</a:t>
            </a:r>
          </a:p>
          <a:p>
            <a:pPr>
              <a:defRPr sz="1050">
                <a:solidFill>
                  <a:srgbClr val="2D3748"/>
                </a:solidFill>
              </a:defRPr>
            </a:pPr>
            <a:r>
              <a:t>•  Archived automatically in report repository for compliance auditing</a:t>
            </a:r>
          </a:p>
          <a:p/>
          <a:p>
            <a:pPr>
              <a:defRPr sz="1200" b="1">
                <a:solidFill>
                  <a:srgbClr val="2B6CB0"/>
                </a:solidFill>
              </a:defRPr>
            </a:pPr>
            <a:r>
              <a:t>🗣️ SPOKEN SCRIPT (NON-TECHNICAL)</a:t>
            </a:r>
          </a:p>
          <a:p>
            <a:pPr>
              <a:defRPr sz="1000" i="1">
                <a:solidFill>
                  <a:srgbClr val="2C5282"/>
                </a:solidFill>
              </a:defRPr>
            </a:pPr>
            <a:r>
              <a:t>"Thanks Person 5. To close our business workflow, we address how executives receive information outside the web portal. Not every executive opens a browser dashboard every morning. Stratify AI includes an Automated PDF Generator that compiles live store metrics, customer RFM tables, inventory alerts, and AI strategy notes into a clean, 8-page executive PDF briefing."</a:t>
            </a:r>
          </a:p>
          <a:p/>
          <a:p>
            <a:pPr>
              <a:defRPr sz="1000" b="1">
                <a:solidFill>
                  <a:srgbClr val="319795"/>
                </a:solidFill>
              </a:defRPr>
            </a:pPr>
            <a:r>
              <a:t>💡 TAKEAWAY: Automated PDF briefings deliver formatted executive reports with zero manual labor.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defRPr sz="1100" b="1">
                <a:solidFill>
                  <a:srgbClr val="319795"/>
                </a:solidFill>
              </a:defRPr>
            </a:pPr>
            <a:r>
              <a:t>PART: AUTOMATED EXECUTIVE REPORTING &amp; TOTAL BUSINESS ROI</a:t>
            </a:r>
          </a:p>
          <a:p>
            <a:pPr>
              <a:defRPr sz="2200" b="1">
                <a:solidFill>
                  <a:srgbClr val="FFFFFF"/>
                </a:solidFill>
              </a:defRPr>
            </a:pPr>
            <a:r>
              <a:t>Person 6 — Robotic Email Delivery (RPA)</a:t>
            </a:r>
          </a:p>
        </p:txBody>
      </p:sp>
      <p:sp>
        <p:nvSpPr>
          <p:cNvPr id="3" name="Rounded Rectangle 2"/>
          <p:cNvSpPr/>
          <p:nvPr/>
        </p:nvSpPr>
        <p:spPr>
          <a:xfrm>
            <a:off x="457200" y="1188720"/>
            <a:ext cx="5852160" cy="5303520"/>
          </a:xfrm>
          <a:prstGeom prst="roundRect">
            <a:avLst/>
          </a:prstGeom>
          <a:solidFill>
            <a:srgbClr val="F7FAFC"/>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xecutive_reports_mid1_1786950775806.png"/>
          <p:cNvPicPr>
            <a:picLocks noChangeAspect="1"/>
          </p:cNvPicPr>
          <p:nvPr/>
        </p:nvPicPr>
        <p:blipFill>
          <a:blip r:embed="rId2"/>
          <a:stretch>
            <a:fillRect/>
          </a:stretch>
        </p:blipFill>
        <p:spPr>
          <a:xfrm>
            <a:off x="548640" y="1280160"/>
            <a:ext cx="5669280" cy="4572000"/>
          </a:xfrm>
          <a:prstGeom prst="rect">
            <a:avLst/>
          </a:prstGeom>
        </p:spPr>
      </p:pic>
      <p:sp>
        <p:nvSpPr>
          <p:cNvPr id="5" name="TextBox 4"/>
          <p:cNvSpPr txBox="1"/>
          <p:nvPr/>
        </p:nvSpPr>
        <p:spPr>
          <a:xfrm>
            <a:off x="548640" y="5897880"/>
            <a:ext cx="5669280" cy="548640"/>
          </a:xfrm>
          <a:prstGeom prst="rect">
            <a:avLst/>
          </a:prstGeom>
          <a:noFill/>
        </p:spPr>
        <p:txBody>
          <a:bodyPr wrap="none">
            <a:spAutoFit/>
          </a:bodyPr>
          <a:lstStyle/>
          <a:p>
            <a:pPr>
              <a:defRPr sz="1000" b="1">
                <a:solidFill>
                  <a:srgbClr val="1A365D"/>
                </a:solidFill>
              </a:defRPr>
            </a:pPr>
            <a:r>
              <a:t>📸 Live Streamlit Demo Screen: UiPath RPA Execution Logs &amp; Gmail SMTP Dispatch Panel</a:t>
            </a:r>
          </a:p>
        </p:txBody>
      </p:sp>
      <p:sp>
        <p:nvSpPr>
          <p:cNvPr id="6" name="Rounded Rectangle 5"/>
          <p:cNvSpPr/>
          <p:nvPr/>
        </p:nvSpPr>
        <p:spPr>
          <a:xfrm>
            <a:off x="6492240" y="1188720"/>
            <a:ext cx="521208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74320" tIns="182880" rIns="274320"/>
          <a:lstStyle/>
          <a:p>
            <a:pPr algn="ctr">
              <a:defRPr sz="1200" b="1">
                <a:solidFill>
                  <a:srgbClr val="1A365D"/>
                </a:solidFill>
              </a:defRPr>
            </a:pPr>
            <a:r>
              <a:t>📌 KEY PRESENTATION POINTS</a:t>
            </a:r>
          </a:p>
          <a:p>
            <a:pPr>
              <a:defRPr sz="1050">
                <a:solidFill>
                  <a:srgbClr val="2D3748"/>
                </a:solidFill>
              </a:defRPr>
            </a:pPr>
            <a:r>
              <a:t>•  Automated email bots operating on a set schedule (e.g. 7:00 AM daily)</a:t>
            </a:r>
          </a:p>
          <a:p>
            <a:pPr>
              <a:defRPr sz="1050">
                <a:solidFill>
                  <a:srgbClr val="2D3748"/>
                </a:solidFill>
              </a:defRPr>
            </a:pPr>
            <a:r>
              <a:t>•  Direct delivery to C-suite Gmail inboxes (academixdemo.project@gmail.com)</a:t>
            </a:r>
          </a:p>
          <a:p>
            <a:pPr>
              <a:defRPr sz="1050">
                <a:solidFill>
                  <a:srgbClr val="2D3748"/>
                </a:solidFill>
              </a:defRPr>
            </a:pPr>
            <a:r>
              <a:t>•  Complete delivery verification and audit logging</a:t>
            </a:r>
          </a:p>
          <a:p/>
          <a:p>
            <a:pPr>
              <a:defRPr sz="1200" b="1">
                <a:solidFill>
                  <a:srgbClr val="2B6CB0"/>
                </a:solidFill>
              </a:defRPr>
            </a:pPr>
            <a:r>
              <a:t>🗣️ SPOKEN SCRIPT (NON-TECHNICAL)</a:t>
            </a:r>
          </a:p>
          <a:p>
            <a:pPr>
              <a:defRPr sz="1000" i="1">
                <a:solidFill>
                  <a:srgbClr val="2C5282"/>
                </a:solidFill>
              </a:defRPr>
            </a:pPr>
            <a:r>
              <a:t>"These reports aren't just built—they are actively delivered. As shown on our live demo screen, digital bots archive the report in our secure repository and send it directly to designated leadership email inboxes via Gmail SMTP. By 7:00 AM every morning, executives have their complete business briefing ready on their mobile phone or laptop before their first cup of coffee."</a:t>
            </a:r>
          </a:p>
          <a:p/>
          <a:p>
            <a:pPr>
              <a:defRPr sz="1000" b="1">
                <a:solidFill>
                  <a:srgbClr val="319795"/>
                </a:solidFill>
              </a:defRPr>
            </a:pPr>
            <a:r>
              <a:t>💡 TAKEAWAY: Robotic email distribution ensures leadership stays informed effortlessly every day.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defRPr sz="1100" b="1">
                <a:solidFill>
                  <a:srgbClr val="319795"/>
                </a:solidFill>
              </a:defRPr>
            </a:pPr>
            <a:r>
              <a:t>PART: AUTOMATED EXECUTIVE REPORTING &amp; TOTAL BUSINESS ROI</a:t>
            </a:r>
          </a:p>
          <a:p>
            <a:pPr>
              <a:defRPr sz="2200" b="1">
                <a:solidFill>
                  <a:srgbClr val="FFFFFF"/>
                </a:solidFill>
              </a:defRPr>
            </a:pPr>
            <a:r>
              <a:t>Person 6 — Business ROI &amp; Conclusion</a:t>
            </a:r>
          </a:p>
        </p:txBody>
      </p:sp>
      <p:sp>
        <p:nvSpPr>
          <p:cNvPr id="3" name="Rounded Rectangle 2"/>
          <p:cNvSpPr/>
          <p:nvPr/>
        </p:nvSpPr>
        <p:spPr>
          <a:xfrm>
            <a:off x="457200" y="1188720"/>
            <a:ext cx="5852160" cy="5303520"/>
          </a:xfrm>
          <a:prstGeom prst="roundRect">
            <a:avLst/>
          </a:prstGeom>
          <a:solidFill>
            <a:srgbClr val="F7FAFC"/>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xecutive_reports_top_1786950755548.png"/>
          <p:cNvPicPr>
            <a:picLocks noChangeAspect="1"/>
          </p:cNvPicPr>
          <p:nvPr/>
        </p:nvPicPr>
        <p:blipFill>
          <a:blip r:embed="rId2"/>
          <a:stretch>
            <a:fillRect/>
          </a:stretch>
        </p:blipFill>
        <p:spPr>
          <a:xfrm>
            <a:off x="548640" y="1280160"/>
            <a:ext cx="5669280" cy="4572000"/>
          </a:xfrm>
          <a:prstGeom prst="rect">
            <a:avLst/>
          </a:prstGeom>
        </p:spPr>
      </p:pic>
      <p:sp>
        <p:nvSpPr>
          <p:cNvPr id="5" name="TextBox 4"/>
          <p:cNvSpPr txBox="1"/>
          <p:nvPr/>
        </p:nvSpPr>
        <p:spPr>
          <a:xfrm>
            <a:off x="548640" y="5897880"/>
            <a:ext cx="5669280" cy="548640"/>
          </a:xfrm>
          <a:prstGeom prst="rect">
            <a:avLst/>
          </a:prstGeom>
          <a:noFill/>
        </p:spPr>
        <p:txBody>
          <a:bodyPr wrap="none">
            <a:spAutoFit/>
          </a:bodyPr>
          <a:lstStyle/>
          <a:p>
            <a:pPr>
              <a:defRPr sz="1000" b="1">
                <a:solidFill>
                  <a:srgbClr val="1A365D"/>
                </a:solidFill>
              </a:defRPr>
            </a:pPr>
            <a:r>
              <a:t>📸 Live Streamlit Demo Screen: ROI Summary Dashboard: 15+ Hours Saved/Week, 95% Error Reduction, 25% Churn Reduction</a:t>
            </a:r>
          </a:p>
        </p:txBody>
      </p:sp>
      <p:sp>
        <p:nvSpPr>
          <p:cNvPr id="6" name="Rounded Rectangle 5"/>
          <p:cNvSpPr/>
          <p:nvPr/>
        </p:nvSpPr>
        <p:spPr>
          <a:xfrm>
            <a:off x="6492240" y="1188720"/>
            <a:ext cx="521208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74320" tIns="182880" rIns="274320"/>
          <a:lstStyle/>
          <a:p>
            <a:pPr algn="ctr">
              <a:defRPr sz="1200" b="1">
                <a:solidFill>
                  <a:srgbClr val="1A365D"/>
                </a:solidFill>
              </a:defRPr>
            </a:pPr>
            <a:r>
              <a:t>📌 KEY PRESENTATION POINTS</a:t>
            </a:r>
          </a:p>
          <a:p>
            <a:pPr>
              <a:defRPr sz="1050">
                <a:solidFill>
                  <a:srgbClr val="2D3748"/>
                </a:solidFill>
              </a:defRPr>
            </a:pPr>
            <a:r>
              <a:t>•  Time Savings: 15+ hours/week saved per management team</a:t>
            </a:r>
          </a:p>
          <a:p>
            <a:pPr>
              <a:defRPr sz="1050">
                <a:solidFill>
                  <a:srgbClr val="2D3748"/>
                </a:solidFill>
              </a:defRPr>
            </a:pPr>
            <a:r>
              <a:t>•  Accuracy: 95% reduction in manual spreadsheet human error</a:t>
            </a:r>
          </a:p>
          <a:p>
            <a:pPr>
              <a:defRPr sz="1050">
                <a:solidFill>
                  <a:srgbClr val="2D3748"/>
                </a:solidFill>
              </a:defRPr>
            </a:pPr>
            <a:r>
              <a:t>•  Bottom-Line Impact: Faster customer churn intervention &amp; margin protection</a:t>
            </a:r>
          </a:p>
          <a:p/>
          <a:p>
            <a:pPr>
              <a:defRPr sz="1200" b="1">
                <a:solidFill>
                  <a:srgbClr val="2B6CB0"/>
                </a:solidFill>
              </a:defRPr>
            </a:pPr>
            <a:r>
              <a:t>🗣️ SPOKEN SCRIPT (NON-TECHNICAL)</a:t>
            </a:r>
          </a:p>
          <a:p>
            <a:pPr>
              <a:defRPr sz="1000" i="1">
                <a:solidFill>
                  <a:srgbClr val="2C5282"/>
                </a:solidFill>
              </a:defRPr>
            </a:pPr>
            <a:r>
              <a:t>"To summarize the total business value of Stratify AI: We take raw store transactions, validate them automatically, analyze customer behavior, present live executive dashboards, generate AI strategic advice, and deliver automated morning PDF reports. The result is 15+ hours saved per manager each week, 95% fewer reporting errors, and faster decisions that drive revenue growth."</a:t>
            </a:r>
          </a:p>
          <a:p/>
          <a:p>
            <a:pPr>
              <a:defRPr sz="1000" b="1">
                <a:solidFill>
                  <a:srgbClr val="319795"/>
                </a:solidFill>
              </a:defRPr>
            </a:pPr>
            <a:r>
              <a:t>💡 TAKEAWAY: Stratify AI turns disconnected retail data into automated revenue growth and executive agility.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defRPr sz="1100" b="1">
                <a:solidFill>
                  <a:srgbClr val="319795"/>
                </a:solidFill>
              </a:defRPr>
            </a:pPr>
            <a:r>
              <a:t>STRATIFY AI — LIVE DEMO BUSINESS DECK</a:t>
            </a:r>
          </a:p>
          <a:p>
            <a:pPr>
              <a:defRPr sz="2200" b="1">
                <a:solidFill>
                  <a:srgbClr val="FFFFFF"/>
                </a:solidFill>
              </a:defRPr>
            </a:pPr>
            <a:r>
              <a:t>Summary &amp; Executive Hand-Off</a:t>
            </a:r>
          </a:p>
        </p:txBody>
      </p:sp>
      <p:sp>
        <p:nvSpPr>
          <p:cNvPr id="3" name="Rounded Rectangle 2"/>
          <p:cNvSpPr/>
          <p:nvPr/>
        </p:nvSpPr>
        <p:spPr>
          <a:xfrm>
            <a:off x="1371600" y="1645920"/>
            <a:ext cx="9448495" cy="4389120"/>
          </a:xfrm>
          <a:prstGeom prst="roundRect">
            <a:avLst/>
          </a:prstGeom>
          <a:solidFill>
            <a:srgbClr val="1A365D"/>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lIns="457200" tIns="365760"/>
          <a:lstStyle/>
          <a:p>
            <a:pPr algn="ctr">
              <a:defRPr sz="2400" b="1">
                <a:solidFill>
                  <a:srgbClr val="319795"/>
                </a:solidFill>
              </a:defRPr>
            </a:pPr>
            <a:r>
              <a:t>🎉 STRATIFY AI LIVE DEMO SUMMARY</a:t>
            </a:r>
          </a:p>
          <a:p>
            <a:pPr>
              <a:defRPr sz="1500">
                <a:solidFill>
                  <a:srgbClr val="FFFFFF"/>
                </a:solidFill>
              </a:defRPr>
            </a:pPr>
            <a:r>
              <a:t>✔  Live Demo Operational: Verified at https://stratify-ai-demo.streamlit.app/</a:t>
            </a:r>
          </a:p>
          <a:p>
            <a:pPr>
              <a:defRPr sz="1500">
                <a:solidFill>
                  <a:srgbClr val="FFFFFF"/>
                </a:solidFill>
              </a:defRPr>
            </a:pPr>
            <a:r>
              <a:t>✔  100% Automated Decision Pipeline: From retail POS checkout to C-suite inbox.</a:t>
            </a:r>
          </a:p>
          <a:p>
            <a:pPr>
              <a:defRPr sz="1500">
                <a:solidFill>
                  <a:srgbClr val="FFFFFF"/>
                </a:solidFill>
              </a:defRPr>
            </a:pPr>
            <a:r>
              <a:t>✔  Zero Garbage Data: Automated Digital Quality Filter ensures 100% reliable reporting.</a:t>
            </a:r>
          </a:p>
          <a:p>
            <a:pPr>
              <a:defRPr sz="1500">
                <a:solidFill>
                  <a:srgbClr val="FFFFFF"/>
                </a:solidFill>
              </a:defRPr>
            </a:pPr>
            <a:r>
              <a:t>✔  Predictive Business Intelligence: RFM Customer Segmentation &amp; Sales Forecasting.</a:t>
            </a:r>
          </a:p>
          <a:p>
            <a:pPr>
              <a:defRPr sz="1500">
                <a:solidFill>
                  <a:srgbClr val="FFFFFF"/>
                </a:solidFill>
              </a:defRPr>
            </a:pPr>
            <a:r>
              <a:t>✔  24/7 AI Strategy Advisor: Translates raw data into plain-English recommendations.</a:t>
            </a:r>
          </a:p>
          <a:p>
            <a:pPr>
              <a:defRPr sz="1500">
                <a:solidFill>
                  <a:srgbClr val="FFFFFF"/>
                </a:solidFill>
              </a:defRPr>
            </a:pPr>
            <a:r>
              <a:t>✔  Massive Time Savings &amp; ROI: Saves 15+ hours/week per manager, driving top-line revenue.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